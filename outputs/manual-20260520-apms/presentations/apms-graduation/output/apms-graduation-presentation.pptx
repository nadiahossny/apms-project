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783760cd5d46e7" /><Relationship Type="http://schemas.openxmlformats.org/officeDocument/2006/relationships/extended-properties" Target="/docProps/app.xml" Id="R8e57ad46b4c34ea9" /><Relationship Type="http://schemas.openxmlformats.org/officeDocument/2006/relationships/officeDocument" Target="/ppt/presentation.xml" Id="R5fe079a6e8ae4b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aa20e9e87f470f"/>
  </p:sldMasterIdLst>
  <p:notesMasterIdLst>
    <p:notesMasterId xmlns:r="http://schemas.openxmlformats.org/officeDocument/2006/relationships" r:id="R68e0e8dd5fc74c24"/>
  </p:notesMasterIdLst>
  <p:sldIdLst>
    <p:sldId xmlns:r="http://schemas.openxmlformats.org/officeDocument/2006/relationships" id="256" r:id="R96b118b8edf14601"/>
    <p:sldId xmlns:r="http://schemas.openxmlformats.org/officeDocument/2006/relationships" id="257" r:id="Rcd25fcf7993d4777"/>
    <p:sldId xmlns:r="http://schemas.openxmlformats.org/officeDocument/2006/relationships" id="258" r:id="Rff78e297625e4e26"/>
    <p:sldId xmlns:r="http://schemas.openxmlformats.org/officeDocument/2006/relationships" id="259" r:id="Ra1b2056ef3e54ec4"/>
    <p:sldId xmlns:r="http://schemas.openxmlformats.org/officeDocument/2006/relationships" id="260" r:id="R1dc4c1beb9a542c7"/>
    <p:sldId xmlns:r="http://schemas.openxmlformats.org/officeDocument/2006/relationships" id="261" r:id="R5bd03e5e1f4e400d"/>
    <p:sldId xmlns:r="http://schemas.openxmlformats.org/officeDocument/2006/relationships" id="262" r:id="R0070ac4286fb4462"/>
    <p:sldId xmlns:r="http://schemas.openxmlformats.org/officeDocument/2006/relationships" id="263" r:id="R267b9fa650354824"/>
    <p:sldId xmlns:r="http://schemas.openxmlformats.org/officeDocument/2006/relationships" id="264" r:id="R34c72f2144e14b9d"/>
    <p:sldId xmlns:r="http://schemas.openxmlformats.org/officeDocument/2006/relationships" id="265" r:id="Ra7d4eb6249c3441e"/>
    <p:sldId xmlns:r="http://schemas.openxmlformats.org/officeDocument/2006/relationships" id="266" r:id="R8c1aee477dec4f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a20e9e87f470f" /><Relationship Type="http://schemas.openxmlformats.org/officeDocument/2006/relationships/theme" Target="/ppt/theme/theme1.xml" Id="R1e85915b2c014c51" /><Relationship Type="http://schemas.openxmlformats.org/officeDocument/2006/relationships/notesMaster" Target="/ppt/notesMasters/notesMaster1.xml" Id="R68e0e8dd5fc74c24" /><Relationship Type="http://schemas.openxmlformats.org/officeDocument/2006/relationships/presProps" Target="/ppt/presProps.xml" Id="R502ad6cd898f4691" /><Relationship Type="http://schemas.openxmlformats.org/officeDocument/2006/relationships/viewProps" Target="/ppt/viewProps.xml" Id="R88871b1674404289" /><Relationship Type="http://schemas.openxmlformats.org/officeDocument/2006/relationships/tableStyles" Target="/ppt/tableStyles.xml" Id="Rb36ed9b22d0341a8" /><Relationship Type="http://schemas.openxmlformats.org/officeDocument/2006/relationships/slide" Target="/ppt/slides/slide1.xml" Id="R96b118b8edf14601" /><Relationship Type="http://schemas.openxmlformats.org/officeDocument/2006/relationships/slide" Target="/ppt/slides/slide2.xml" Id="Rcd25fcf7993d4777" /><Relationship Type="http://schemas.openxmlformats.org/officeDocument/2006/relationships/slide" Target="/ppt/slides/slide3.xml" Id="Rff78e297625e4e26" /><Relationship Type="http://schemas.openxmlformats.org/officeDocument/2006/relationships/slide" Target="/ppt/slides/slide4.xml" Id="Ra1b2056ef3e54ec4" /><Relationship Type="http://schemas.openxmlformats.org/officeDocument/2006/relationships/slide" Target="/ppt/slides/slide5.xml" Id="R1dc4c1beb9a542c7" /><Relationship Type="http://schemas.openxmlformats.org/officeDocument/2006/relationships/slide" Target="/ppt/slides/slide6.xml" Id="R5bd03e5e1f4e400d" /><Relationship Type="http://schemas.openxmlformats.org/officeDocument/2006/relationships/slide" Target="/ppt/slides/slide7.xml" Id="R0070ac4286fb4462" /><Relationship Type="http://schemas.openxmlformats.org/officeDocument/2006/relationships/slide" Target="/ppt/slides/slide8.xml" Id="R267b9fa650354824" /><Relationship Type="http://schemas.openxmlformats.org/officeDocument/2006/relationships/slide" Target="/ppt/slides/slide9.xml" Id="R34c72f2144e14b9d" /><Relationship Type="http://schemas.openxmlformats.org/officeDocument/2006/relationships/slide" Target="/ppt/slides/slide10.xml" Id="Ra7d4eb6249c3441e" /><Relationship Type="http://schemas.openxmlformats.org/officeDocument/2006/relationships/slide" Target="/ppt/slides/slide11.xml" Id="R8c1aee477dec4f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889d63844d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89af3197545f6" /><Relationship Type="http://schemas.openxmlformats.org/officeDocument/2006/relationships/notesMaster" Target="/ppt/notesMasters/notesMaster1.xml" Id="Rb4b2a1ae5542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75a31d203c4a18" /><Relationship Type="http://schemas.openxmlformats.org/officeDocument/2006/relationships/notesMaster" Target="/ppt/notesMasters/notesMaster1.xml" Id="R61d879977f5748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ba2c10979a42f3" /><Relationship Type="http://schemas.openxmlformats.org/officeDocument/2006/relationships/notesMaster" Target="/ppt/notesMasters/notesMaster1.xml" Id="R84fffc32fb1943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28543842fc4457" /><Relationship Type="http://schemas.openxmlformats.org/officeDocument/2006/relationships/notesMaster" Target="/ppt/notesMasters/notesMaster1.xml" Id="R1cb7c3c6fda34c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b2b47150c54297" /><Relationship Type="http://schemas.openxmlformats.org/officeDocument/2006/relationships/notesMaster" Target="/ppt/notesMasters/notesMaster1.xml" Id="Ra1a08a7d232247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3672e5affc4a18" /><Relationship Type="http://schemas.openxmlformats.org/officeDocument/2006/relationships/notesMaster" Target="/ppt/notesMasters/notesMaster1.xml" Id="R4614e654c44248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b3d594792246eb" /><Relationship Type="http://schemas.openxmlformats.org/officeDocument/2006/relationships/notesMaster" Target="/ppt/notesMasters/notesMaster1.xml" Id="Re1ee4790153f49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b18f2ad5b14885" /><Relationship Type="http://schemas.openxmlformats.org/officeDocument/2006/relationships/notesMaster" Target="/ppt/notesMasters/notesMaster1.xml" Id="Rc36aafa292b342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14dc1ff8034490" /><Relationship Type="http://schemas.openxmlformats.org/officeDocument/2006/relationships/notesMaster" Target="/ppt/notesMasters/notesMaster1.xml" Id="Rf106560b214f47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b881b29b184d1f" /><Relationship Type="http://schemas.openxmlformats.org/officeDocument/2006/relationships/notesMaster" Target="/ppt/notesMasters/notesMaster1.xml" Id="Rb6514cfd378f48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bc9e4443044f92" /><Relationship Type="http://schemas.openxmlformats.org/officeDocument/2006/relationships/notesMaster" Target="/ppt/notesMasters/notesMaster1.xml" Id="R87cbe4cdc7544d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90e599d4c41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ba17b8527714f8e" /><Relationship Type="http://schemas.openxmlformats.org/officeDocument/2006/relationships/slideLayout" Target="/ppt/slideLayouts/slideLayout2.xml" Id="R39ac8fe90c19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ac8fe90c19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c162941754e14" /><Relationship Type="http://schemas.openxmlformats.org/officeDocument/2006/relationships/notesSlide" Target="/ppt/notesSlides/notesSlide1.xml" Id="R866ff92cde5f45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f9654a227c486a" /><Relationship Type="http://schemas.openxmlformats.org/officeDocument/2006/relationships/notesSlide" Target="/ppt/notesSlides/notesSlide2.xml" Id="Rc8aca731e3054d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17e40d317c41b6" /><Relationship Type="http://schemas.openxmlformats.org/officeDocument/2006/relationships/notesSlide" Target="/ppt/notesSlides/notesSlide3.xml" Id="R451325050b8243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e8ffa5ce374dd6" /><Relationship Type="http://schemas.openxmlformats.org/officeDocument/2006/relationships/notesSlide" Target="/ppt/notesSlides/notesSlide4.xml" Id="R96043a9fa40b4a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9d581b9f554199" /><Relationship Type="http://schemas.openxmlformats.org/officeDocument/2006/relationships/notesSlide" Target="/ppt/notesSlides/notesSlide5.xml" Id="R1a87e33649d6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620f3d3195415f" /><Relationship Type="http://schemas.openxmlformats.org/officeDocument/2006/relationships/notesSlide" Target="/ppt/notesSlides/notesSlide6.xml" Id="Ra2d6803d47a145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2d00ad0a7447f3" /><Relationship Type="http://schemas.openxmlformats.org/officeDocument/2006/relationships/notesSlide" Target="/ppt/notesSlides/notesSlide7.xml" Id="R93686691f14548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dff1faa08f4233" /><Relationship Type="http://schemas.openxmlformats.org/officeDocument/2006/relationships/notesSlide" Target="/ppt/notesSlides/notesSlide8.xml" Id="R1dd330e81e0044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0946e8f7b04e0a" /><Relationship Type="http://schemas.openxmlformats.org/officeDocument/2006/relationships/notesSlide" Target="/ppt/notesSlides/notesSlide9.xml" Id="R8e0bac5006764e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34f2bdc0c453e" /><Relationship Type="http://schemas.openxmlformats.org/officeDocument/2006/relationships/notesSlide" Target="/ppt/notesSlides/notesSlide10.xml" Id="Rded5b371bb404d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bcb3d40b0a4261" /><Relationship Type="http://schemas.openxmlformats.org/officeDocument/2006/relationships/notesSlide" Target="/ppt/notesSlides/notesSlide11.xml" Id="R62921d17b7bf49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A0836-A2D0-49EB-834E-9103DBC2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982AB-2FBB-454B-B50F-B3F8AD48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76D9F-3E39-4E74-9612-78D632C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8060D-3A39-4DAB-9319-D6A71EFF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APMS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24B47-33FE-4174-8519-D46F2202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23335-1313-4CFB-863E-9232BCE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Next-generation automation, smart dispensing, and pharmacy logistics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48A50-6A4F-4651-99EC-3CAF3977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C2E3D-F2AE-4B9A-AEA8-C1B9754F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EE588-026F-4945-A537-483FF60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09875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F70B1-1E56-42C8-A659-D13C1C0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765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96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966D"/>
                </a:solidFill>
                <a:latin typeface="Aptos"/>
                <a:ea typeface="Aptos"/>
                <a:cs typeface="Aptos"/>
              </a:rPr>
              <a:t>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B5668-2CC1-407C-BD2A-06DFAE94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09875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B25B1-76A4-4243-BD60-8BAE60C0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8C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8CEB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BB216-ED46-4613-B40E-72E2E6F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57250"/>
            <a:ext cx="3714750" cy="40005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62ABF-E04B-4B4F-8878-CE405046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851C2-8E33-40E8-A074-DBA932E7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922B9-2664-41F8-9615-11B2C7A2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81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Flutter Interfaces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2C901-69D3-4F2E-AEC1-69EE9355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573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Manager console + Roshetty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93815-D843-409D-8F29-55906A78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26984-D26E-4A81-9885-72A301BB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26329-6E3E-4BFF-9CF3-ABEAA341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Node 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7A8A7-2AF1-4927-81EF-362B95CE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Express + TypeScript + WebSockets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7988A-BCFA-4EBF-953A-CC85565A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2A16C-DEF2-4445-B978-D52114C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80051-86E9-4235-9161-E88C961B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48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Robotic Dispensing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49CA4-E791-40A9-8E3E-1F34676B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243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pick_sequence + storage_location</a:t>
            </a:r>
          </a:p>
        </p:txBody>
      </p:sp>
      <p:sp>
        <p:nvSpPr>
          <p:cNvPr id="26" name="connector">
            <a:extLst xmlns:a="http://schemas.openxmlformats.org/drawingml/2006/main">
              <a:ext uri="{FF2B5EF4-FFF2-40B4-BE49-F238E27FC236}">
                <a16:creationId xmlns:a16="http://schemas.microsoft.com/office/drawing/2014/main" id="{AA03C040-F66A-426A-A678-498D3A07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10625" y="21907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8891D-CFB4-4317-A7DA-BE8D47A5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76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connector">
            <a:extLst xmlns:a="http://schemas.openxmlformats.org/drawingml/2006/main">
              <a:ext uri="{FF2B5EF4-FFF2-40B4-BE49-F238E27FC236}">
                <a16:creationId xmlns:a16="http://schemas.microsoft.com/office/drawing/2014/main" id="{9FC38CE3-8D6E-4CA3-B58F-A03C6E5B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10625" y="3524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E11A3-51E0-48C9-A2E5-A0F81389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0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5EDE8-B31D-43DE-95BB-A65DC8A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Graduation Project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4E640-3C43-4933-AAB7-FDD813BA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roles | University branding | Supervisor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9095F-3FA5-49BD-9CB0-666C7AEB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FEC44-57FC-4465-815A-51D938EE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1733F-7171-44B7-B965-9C11F9C7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8105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30A9DA-BEEF-46AB-A136-911D0011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C2D50-F9E6-4381-A319-4A730DDD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72321-413C-427D-9A64-6D7BA16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53BFA17-7DA3-4038-9CA7-615A15A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201D4F-A417-4EC5-B1D9-687951D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VILLAIN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91F0D-D1AF-4CED-BC09-807BB78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Traditional pharmacy work creates hidden failure points.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EB4F1-02C2-4E2E-A90F-97712E9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1AD4F-D943-471E-A822-9E686EA9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EBB95-5B54-49AB-A751-C7F25CDF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Manual Labor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EBB95-3FA1-42A1-9927-2ACF51F4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System Inefficiency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79D84-C267-432F-8FF3-9CA06746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B2D88-41BF-4A3C-BC1B-B7350FE9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Manual lookup slows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8BF34-4547-4D08-9CB8-BE824930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164E5-92CC-4EBE-91FE-5E23A81D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Handwriting creates ambiguity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6D061-2D13-4FC6-A63F-675EDE37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86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0386C-07AA-4764-B7BD-58A1ABF9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Dispensing depends on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2C5B9-B4B0-4CF9-BCD8-7B9C160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05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BA61F-4677-443E-8E7D-40CB359A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Expiry risks stay hidden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6B992-1802-401D-96E8-7849CCF3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47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1C1AD-D0BD-494B-9737-B6405812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Stock updates drift silently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451C6-77F5-4F0C-81A4-20469E53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F1087-2E4A-4599-8DE5-B78DA1BF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04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Queues grow during peaks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EEE96-B43C-4991-A82C-245E1F4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86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95795-C1A6-49B4-B5CC-7236A057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195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Patient status stays unclear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6EE1D-16FC-49C5-9197-C9BF18D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05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41088-F1ED-4A69-B29A-AE5BCAE4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386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Reports lose price accuracy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1B70D-4891-45E1-A117-DE9C2E2D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242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E7EB"/>
          </a:solidFill>
          <a:ln xmlns:a="http://schemas.openxmlformats.org/drawingml/2006/main" w="9525">
            <a:solidFill>
              <a:srgbClr val="E35D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AAED2-AE32-46BB-8D0F-20AEDB60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14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5D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5D6A"/>
                </a:solidFill>
                <a:latin typeface="Aptos"/>
                <a:ea typeface="Aptos"/>
                <a:cs typeface="Aptos"/>
              </a:rPr>
              <a:t>BOTTLENECK</a:t>
            </a:r>
          </a:p>
        </p:txBody>
      </p:sp>
      <p:sp>
        <p:nvSpPr>
          <p:cNvPr id="29" name="connector">
            <a:extLst xmlns:a="http://schemas.openxmlformats.org/drawingml/2006/main">
              <a:ext uri="{FF2B5EF4-FFF2-40B4-BE49-F238E27FC236}">
                <a16:creationId xmlns:a16="http://schemas.microsoft.com/office/drawing/2014/main" id="{3179328C-9E3F-4DC1-83F0-57FEA1B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3909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E95989-E58F-4F10-84F2-3640BB8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onnector">
            <a:extLst xmlns:a="http://schemas.openxmlformats.org/drawingml/2006/main">
              <a:ext uri="{FF2B5EF4-FFF2-40B4-BE49-F238E27FC236}">
                <a16:creationId xmlns:a16="http://schemas.microsoft.com/office/drawing/2014/main" id="{90FD30C3-D542-4ED4-8558-C3B38119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33909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24322-C2CE-436B-A8E0-1AD20C64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FBFB21-037B-4C32-9E0E-297A554A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BE3265-6610-4314-B6AF-B5DACD07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0DBE96-A37A-438B-B94F-08D5B529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5776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C9E013-E4E0-4BA9-AE94-9FFE87E5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940C0-FF3E-4620-BDE3-6FFF81A2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0DF72-DE75-4D86-BF05-704AEE34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5C9866-CD91-4EB3-97CE-1E8F12BC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6F456E-DE9E-456D-92BE-B0916AF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HERO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6640A-B96D-4817-9B1A-D23F1177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APMS connects every step into one pharmacy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73529-4D76-4B54-8DA4-71A27869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B5B59-4C32-4FDF-9663-8509E8B8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584BE-DAAF-4CEB-9D36-0188149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Software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B909F-81DC-42AD-B09E-4AFDD07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Flutter admin console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Roshetty patient app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Express API 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A5201-177B-4BD9-897F-23D1134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2F9CD-44D3-4F29-94FF-1FFF225F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2A754-937B-4F36-B102-E0A18A2D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1356A-0188-4FD4-BD79-5E39512C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2412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OCR extraction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Predictive AI models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SQL chatbot assistant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6C3B6-0B5D-4E69-93E9-03B3DD9C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F53AB-6E84-46ED-8543-45964FD2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DC7FB-D9BB-4FEE-892A-99D2ACA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83560-6F58-4F16-9554-CE07DBCC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2412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Robot job queue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Bin-based pick sequence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Realtime acknowledgements</a:t>
            </a:r>
          </a:p>
        </p:txBody>
      </p:sp>
      <p:sp>
        <p:nvSpPr>
          <p:cNvPr id="19" name="connector">
            <a:extLst xmlns:a="http://schemas.openxmlformats.org/drawingml/2006/main">
              <a:ext uri="{FF2B5EF4-FFF2-40B4-BE49-F238E27FC236}">
                <a16:creationId xmlns:a16="http://schemas.microsoft.com/office/drawing/2014/main" id="{3E1AA285-72C7-4B56-B166-E2108D55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667000"/>
            <a:ext cx="1038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1A7C3-16AD-4CF5-8DAD-7A5C1AD5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19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connector">
            <a:extLst xmlns:a="http://schemas.openxmlformats.org/drawingml/2006/main">
              <a:ext uri="{FF2B5EF4-FFF2-40B4-BE49-F238E27FC236}">
                <a16:creationId xmlns:a16="http://schemas.microsoft.com/office/drawing/2014/main" id="{E03EC478-104D-4E5A-A6C4-628D844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2667000"/>
            <a:ext cx="1038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09D2A-61EF-40B7-8338-C31855EB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19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D7FFD-9E10-4BB2-B12F-34540C7D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00CAF-41E3-404C-A835-8170304D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67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20701-9E37-40E1-A6F6-E0AA471F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2672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E9DC2-97D7-4A8F-A27E-3F0846BD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0532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Patient or pharmacist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26718-5B09-4C2A-99D3-88A30B1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69A019-B41E-427B-BEAC-9794DAE2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67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CD4EB-8943-4D10-8E93-0E4F7E35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14A8CA-E0AB-4B2C-905E-159F3F27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Database matched item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0193F1-39B2-4875-BBA7-9420F565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3E9E74-0C55-4C1D-8FBE-49F575D5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67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98D0A-D66B-46AE-8DB5-5E4E7072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2672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7ADF94-DF73-452F-A343-8650529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0532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Robot dispensing job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80692B-3553-44A4-AEF5-5AA65C2C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C428BE-1E14-40D7-87A1-0E48DB1C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67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0F8437-5A6C-4A77-9C8F-9053711D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672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E9C32E-6018-4C24-B8FB-7B3EF60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053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Live 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21D212-FD70-4B24-BA04-9C01D898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478AD7-D41A-4AF7-A6A2-3CFA7D43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8B193-CAE6-4C1F-8743-76C320D0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14748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898999-DF1E-483D-B63F-727F9957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F44F3-464B-4803-B02D-B5AECAFA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EF5ED-BCF7-4054-A5C8-D686AF65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1A6EF0-37A6-4E2B-85E2-B37DA3C7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3C0541-54FA-42DA-B802-6FE268CB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58777-55C0-416D-B444-200DF7BD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 modular stack keeps UI, AI, data, and hardware independent.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5253A-6DF7-4599-8263-FBF6B78A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C862F-DE6A-4FBC-AC5B-2B6BCB64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75F4D-6522-4B91-9A9A-DC180D95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Flutter APMS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FF1B9-4830-46CF-8E9D-0055A789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Manager + staff 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77FEA-D0DC-47AA-8145-48E88307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5CD33-4B93-4603-8333-E2078207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18D8E-E9C0-42EA-A22F-25E34EB4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Roshetty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10AA9-ABD7-472E-8C85-178C9DD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Patient ordering + tracking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68239-9A79-483E-ACBC-6AD2193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1462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00076-7CC4-4ADB-9F04-7338346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14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FE6CD-E148-49BD-9F46-DBCA27C8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670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Node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3DE20-6ED4-420C-AF56-D8DB4040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Express 5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TypeScript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REST + WebSocket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Port 4000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BB151-B76F-49C9-8B1C-216A0CEF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0902A-E6C2-4F23-A72D-7A3F0675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9B4B7-D01D-40E1-B73C-F5697ED0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71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7AA2C-3E9F-42C8-9AC4-2CBC3F7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478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source of truth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83652-3938-40D3-9191-A6E2097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0AF40-6F18-401A-AA49-3F60E90F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FA614-22EB-4612-B1A7-D39ED633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AI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B07157-FBDD-4C71-958E-0C0CB715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861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FastAPI analytics, port 5000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3857C-79E7-4E82-839B-E6D89D87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8C939C-83DA-4BB5-87B7-1DF579B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B5668-9436-46DE-969C-635436DD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OCR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DE01C-CAA2-48BD-88B4-7D84AA4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243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FastAPI OCR, port 5001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B2AEB-9E39-4339-837C-EF4F2727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7E1819-3BCF-4BA0-B13D-9DB1A3F4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2BE605-C984-46C5-90F3-EDCF36DD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99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Robot Controller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5EB2E3-AC94-4285-A120-89D430DD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86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pick_sequence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storage_location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ROBOT_ACK</a:t>
            </a:r>
          </a:p>
        </p:txBody>
      </p:sp>
      <p:sp>
        <p:nvSpPr>
          <p:cNvPr id="35" name="connector">
            <a:extLst xmlns:a="http://schemas.openxmlformats.org/drawingml/2006/main">
              <a:ext uri="{FF2B5EF4-FFF2-40B4-BE49-F238E27FC236}">
                <a16:creationId xmlns:a16="http://schemas.microsoft.com/office/drawing/2014/main" id="{3040F928-039B-4005-98C0-B31E854B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03581">
            <a:off x="2686050" y="2714625"/>
            <a:ext cx="8012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E7B58-CF87-4CA2-8C07-D34ADE2B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connector">
            <a:extLst xmlns:a="http://schemas.openxmlformats.org/drawingml/2006/main">
              <a:ext uri="{FF2B5EF4-FFF2-40B4-BE49-F238E27FC236}">
                <a16:creationId xmlns:a16="http://schemas.microsoft.com/office/drawing/2014/main" id="{2BE12189-8156-41CF-8927-00E5C9CA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04532">
            <a:off x="2686050" y="4143375"/>
            <a:ext cx="97024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BA132-08AE-485D-B331-9203A5C2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29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4BA6AD-CECF-4F21-AA9B-1C925387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7182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27A645-D06C-4EFD-B670-19A93958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90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D1606-C212-4FD0-8B9B-8CEBDF55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BDC5CD-36C4-40E7-8215-994E8738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480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963CC8-1FBA-495B-885E-CD98FF90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connector">
            <a:extLst xmlns:a="http://schemas.openxmlformats.org/drawingml/2006/main">
              <a:ext uri="{FF2B5EF4-FFF2-40B4-BE49-F238E27FC236}">
                <a16:creationId xmlns:a16="http://schemas.microsoft.com/office/drawing/2014/main" id="{A43DEE85-868D-4F98-9CB4-7C1A215B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2480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C64396-1D9B-4003-B7F5-49F9319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00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64DF59-C5D0-40C1-BC3D-3E01B609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AED958-47A7-4A02-B4A9-2E092DB6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907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JWT + Zod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C185DE-FF8C-43FB-BD9D-B3BB58C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3D8724-1F64-4CBD-B7ED-ED177B04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354432-54EF-4B11-AB9B-DAB8D73E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80703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BFC543-3A01-4661-9FCB-24FC8A65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4B848-525B-4F82-8B21-D0E6DF9E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2F897-0874-4227-B051-FA750531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6EFD7E-9351-469C-8470-AFAF3E30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23FBBF-CC1D-4348-BAA2-8B3B71C2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A2CC1-48F5-433A-9A3A-F6AC77FF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PostgreSQL protects financial and physical truth.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50A88-5B2A-4827-BBFF-571DF41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790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093C1-7DCD-4708-8025-AF6A236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B4D1C-9E8D-411D-8F55-E4716BB8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1386F-B4FA-4F86-97B2-810EED5A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19325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user_id PK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email UNIQUE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13F4D-25DB-4001-B843-A4F0B13C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19526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7CEC0-690A-4757-8743-0DE8113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6A931-249C-461C-A2D2-D27C9D0C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431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medicines_inventory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F9ACA-30E7-4BB3-B575-5A596BDB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19325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medicine_id PK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quantity_on_hand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storage_location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C76CA-3E1B-4FCE-9292-A296DCFD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90700"/>
            <a:ext cx="1866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1261D-8134-4BE5-A1C1-A5A8DE66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90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E8558-CECD-4717-AF7E-F4853CF2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companies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9C7A3-2040-4B4C-B297-4319B44D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1932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company_id PK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name UNIQUE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65B82-1C85-4CF0-B55F-6E9A3D53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6D4AB-C7A0-463E-8558-0A8188E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3C794-AE12-4641-B163-4A948042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prescriptions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B98CF-F860-4B41-A12A-25449ED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prescription_id PK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roshetta_code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3EEA1-5D47-4053-99EF-B8D59D74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52800"/>
            <a:ext cx="21717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428F8-4D53-4EE4-B5E8-EC591120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528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A6C71-325D-42C2-852C-213E9F2A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prescription_items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1DA96-8BAD-4837-9F20-A5BEE47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pitem_id PK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medicine_id FK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pay_rate_at_sale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line_profit STORED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DC8BD-3C92-435A-A29B-FAA8601D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29000"/>
            <a:ext cx="1952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80184-7F2B-415C-8272-830AEEF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29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3575E-A28E-4876-9228-18AAEFC5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5814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robot_jobs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2DCE6-B4C6-48CD-8DC0-2D1343B5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57625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job_id PK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pick_sequence JSONB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ack_log JSONB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BB5A6-EB22-47D7-AAF7-6827BE39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2073B2-0DA5-4A14-85AD-A25F602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F3C4FF-59C1-4CBA-9A9F-28ABA055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invoices_fawateer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75471-3502-4842-A2B8-EEC88183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1932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invoice_id PK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payment_status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net_payable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544C38-FC26-4714-A511-FD600638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0587E7-7896-4E98-8008-AD8C07D4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18129F-D210-4649-8C6F-5A41D53E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invoice_items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01044C-CCC8-41BE-A3AF-C3BB11D3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5762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item_id PK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invoice_id FK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total_line_cost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71765C-4F90-4E81-888F-701F8EDD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1381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8AF8C5-02E0-4BDB-AC10-9572484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641D6F-E6D4-4F01-9622-FBEB2CB1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24150"/>
            <a:ext cx="1095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activity_logs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65279C-E10F-4B1A-8231-C34CBEA3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00375"/>
            <a:ext cx="1095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event_type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metadata JSONB</a:t>
            </a:r>
          </a:p>
        </p:txBody>
      </p:sp>
      <p:sp>
        <p:nvSpPr>
          <p:cNvPr id="43" name="connector">
            <a:extLst xmlns:a="http://schemas.openxmlformats.org/drawingml/2006/main">
              <a:ext uri="{FF2B5EF4-FFF2-40B4-BE49-F238E27FC236}">
                <a16:creationId xmlns:a16="http://schemas.microsoft.com/office/drawing/2014/main" id="{372E9B14-0421-4A6E-A709-C5C34D01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2860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96D13C-00A3-4F25-99DA-A22B0122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238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connector">
            <a:extLst xmlns:a="http://schemas.openxmlformats.org/drawingml/2006/main">
              <a:ext uri="{FF2B5EF4-FFF2-40B4-BE49-F238E27FC236}">
                <a16:creationId xmlns:a16="http://schemas.microsoft.com/office/drawing/2014/main" id="{D5C9BA49-F402-4C11-AA14-BFFE640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40005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AADC63-CC76-4066-9BEB-D9121BE4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connector">
            <a:extLst xmlns:a="http://schemas.openxmlformats.org/drawingml/2006/main">
              <a:ext uri="{FF2B5EF4-FFF2-40B4-BE49-F238E27FC236}">
                <a16:creationId xmlns:a16="http://schemas.microsoft.com/office/drawing/2014/main" id="{4E07067F-974B-4DA8-A6DD-707D2D21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40005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2001EE-73D4-46C0-8CF0-44AE79EE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connector">
            <a:extLst xmlns:a="http://schemas.openxmlformats.org/drawingml/2006/main">
              <a:ext uri="{FF2B5EF4-FFF2-40B4-BE49-F238E27FC236}">
                <a16:creationId xmlns:a16="http://schemas.microsoft.com/office/drawing/2014/main" id="{36294E31-EE10-4E0E-8712-8C1FB17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53500" y="2781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42384A-A743-4548-8425-972FB79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5A828C-F064-4AB8-A9CD-BC7AB3C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2FB77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3FA5E2-89E8-45E5-AE73-C6E10010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721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96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966D"/>
                </a:solidFill>
                <a:latin typeface="Aptos"/>
                <a:ea typeface="Aptos"/>
                <a:cs typeface="Aptos"/>
              </a:rPr>
              <a:t>ACID transactions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188789-D42C-4BAA-8891-A3E01D39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86375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4A90D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F79666-C425-4970-9AF5-225086A4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3721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Historical price locking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677FDB-2770-492F-979E-78A8E135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86375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8B8C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E6C4C1-98D4-47F0-BECD-101E993D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3721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8C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8CEB"/>
                </a:solidFill>
                <a:latin typeface="Aptos"/>
                <a:ea typeface="Aptos"/>
                <a:cs typeface="Aptos"/>
              </a:rPr>
              <a:t>Robot bin mapping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ECCAE4-3D74-4D06-8FE6-CD25D517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F733A-E8C9-48CE-8F96-9776E8F7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73774A-16E6-4AA7-B2E8-298E38A9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1677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8B4D4-F033-4BCF-9E17-C6FCB6E2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2FAE2-F5DB-438A-8D3C-08E03E07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C89EA-5941-44CC-97EC-38647A8D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5BD61C-795A-4135-960C-E06F94EC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D5713A5-FE30-44EA-9CE9-93CEDD78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AI BRIDGE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5FB05-9CE9-4510-B0DB-F4F92362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Unstructured prescriptions become verified database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4E25E-A1D4-4E94-9DAA-9261FE9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57132-E15C-4756-98E2-EEEBB6CE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C65CA-881A-48D7-B7A6-0B35D726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336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Image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218ED-C12F-4F50-BD25-BD7073E9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987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Camera or gallery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Prescription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F4924-5129-45C9-961A-957FEA7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81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5F5A5-37F5-45A5-9843-32E400DE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81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4D764-9D9E-4405-ABCF-289F9618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33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OCR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76B2C-D8A3-4E33-BB80-8703026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098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FastAPI 5001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glm-ocr:latest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2598A-A4F6-45AB-BBAB-090E70F9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CBB32-E2D0-4D9A-85AF-0116D3F4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9EF5D-3D99-463F-858A-4E9EBCF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336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2EDCF-64F9-44F0-9EF3-32F3BA59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09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Remove mg, tablet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Extract candidates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69B29-70D3-4D78-ACC0-355E88AA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B8872-7A14-4E6B-940D-24FDEFC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0564B-F8FB-42F1-8F98-0917161B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336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Fuzzy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F3BFA-8539-4D23-8300-078AA7BE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9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Exact + prefix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OCR visual fixes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5B962-644D-4B91-8DBF-13791529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812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A23F9-1616-4C0D-8B0E-2C9ACA6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81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07BFC-CB2C-49ED-BA69-D5D156E7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336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F16D9-C55B-4775-ABFC-38D90300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809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Link medicine_id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Store prescription</a:t>
            </a:r>
          </a:p>
        </p:txBody>
      </p:sp>
      <p:sp>
        <p:nvSpPr>
          <p:cNvPr id="27" name="connector">
            <a:extLst xmlns:a="http://schemas.openxmlformats.org/drawingml/2006/main">
              <a:ext uri="{FF2B5EF4-FFF2-40B4-BE49-F238E27FC236}">
                <a16:creationId xmlns:a16="http://schemas.microsoft.com/office/drawing/2014/main" id="{266FBA73-24BD-4DE7-A62C-ECCC351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28098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85066-2DA2-4D33-A2AD-2B57EBB2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connector">
            <a:extLst xmlns:a="http://schemas.openxmlformats.org/drawingml/2006/main">
              <a:ext uri="{FF2B5EF4-FFF2-40B4-BE49-F238E27FC236}">
                <a16:creationId xmlns:a16="http://schemas.microsoft.com/office/drawing/2014/main" id="{7962C7F7-6B3A-40A7-819E-8A554552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8098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5A75E-E018-450F-9474-98A63E69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onnector">
            <a:extLst xmlns:a="http://schemas.openxmlformats.org/drawingml/2006/main">
              <a:ext uri="{FF2B5EF4-FFF2-40B4-BE49-F238E27FC236}">
                <a16:creationId xmlns:a16="http://schemas.microsoft.com/office/drawing/2014/main" id="{ADD77984-3F2C-41F4-A7F3-4DFF6157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8098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D94127-7A46-42A2-B115-06B41196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connector">
            <a:extLst xmlns:a="http://schemas.openxmlformats.org/drawingml/2006/main">
              <a:ext uri="{FF2B5EF4-FFF2-40B4-BE49-F238E27FC236}">
                <a16:creationId xmlns:a16="http://schemas.microsoft.com/office/drawing/2014/main" id="{174667CE-DAF2-4347-8F08-70F82857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28098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6DE600-9421-4796-8A5C-C7F7B865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F5970-3A7B-4014-9820-DD1365EC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0050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0CD8F3-78ED-4AA6-8735-5ED006E1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00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CDB5E3-826B-41B3-985D-AAC646D4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52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Validated 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B0CAF8-451B-4B1B-8685-6D1B6580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42912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medicine_names[]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validated_medicines[]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D777BE-B648-4C31-AAB1-536780D8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6D4A3C-4CDF-454A-8547-966936F6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3643A0-48C5-4EE8-BEBB-C8A75F59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1529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Queue Tables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BA1B09-7BD2-408F-AE06-E095FF1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291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prescriptions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prescription_items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D2C8DF-1E1A-4311-8931-3F836F6A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A635CE-5BAE-4317-ADD0-1B369D37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831D66-561B-4F26-A325-D2F0AF24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1529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Robot Queue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7E1A41-A618-47D4-9A92-AF4CF2EC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291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robot_jobs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pick_sequence JSONB</a:t>
            </a:r>
          </a:p>
        </p:txBody>
      </p:sp>
      <p:sp>
        <p:nvSpPr>
          <p:cNvPr id="47" name="connector">
            <a:extLst xmlns:a="http://schemas.openxmlformats.org/drawingml/2006/main">
              <a:ext uri="{FF2B5EF4-FFF2-40B4-BE49-F238E27FC236}">
                <a16:creationId xmlns:a16="http://schemas.microsoft.com/office/drawing/2014/main" id="{D764A0CF-79A8-4334-BF5B-5A9E5CA3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4371975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125C21-3B4F-4C08-8559-ECD545F2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24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connector">
            <a:extLst xmlns:a="http://schemas.openxmlformats.org/drawingml/2006/main">
              <a:ext uri="{FF2B5EF4-FFF2-40B4-BE49-F238E27FC236}">
                <a16:creationId xmlns:a16="http://schemas.microsoft.com/office/drawing/2014/main" id="{FE7994F6-5703-49EE-AF7B-003D5D8D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43719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D8AF24-F3AF-4250-B284-041E33F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24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E59E3C-52FF-4E42-BAD5-249D6FAB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8CA318-21BA-4493-A8BA-31BFF30E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9590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No floating text strings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9D7196-2BF6-46AF-85C5-0EBBF83A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2333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72A2E6-8AB1-45D6-B7EB-438E04A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959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96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966D"/>
                </a:solidFill>
                <a:latin typeface="Aptos"/>
                <a:ea typeface="Aptos"/>
                <a:cs typeface="Aptos"/>
              </a:rPr>
              <a:t>Every item maps to inventory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1CD09D-7778-43F6-8135-08A5BF43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219700"/>
            <a:ext cx="2333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49A59C-1293-41F5-B01B-925D4BF4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2959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8C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8CEB"/>
                </a:solidFill>
                <a:latin typeface="Aptos"/>
                <a:ea typeface="Aptos"/>
                <a:cs typeface="Aptos"/>
              </a:rPr>
              <a:t>Robot receives bin sequence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AAB7CF-851F-42C7-B1F4-10AF523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4993C6-7DA8-4B70-92A3-D08E2B4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98134E-F033-4D59-86D9-0AE1CE83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09340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61C72-B085-4F01-9127-CFD8912F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F6A2D-2DA3-4F84-8004-D4DE4DE6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0C4AA-4426-48C3-80AC-EA02F90D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AB7A6D-46D3-4E20-AAE9-6772A3CB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8FB02B-AE4D-4A50-BF45-DEF9932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AB7F2-9A44-42CD-881F-5855C208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gateway coordinates security, transactions, and realtime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905DA-DC0C-422D-BEDB-A5315BD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762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1D6DD-EFCC-48AC-9ACE-188A7E8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0E11E-5680-4D94-920D-0CDFD4C4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BB3BB-B37A-4CC8-9B1C-9174D639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Flutter or Roshetty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9CAEA-44C5-4E4B-9107-26ACEC5A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762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57721-884A-4EF8-8453-EA456661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225CF-ED84-4F4D-B437-15A2806A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Auth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E2BD3-DB92-49DB-996F-668C8090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JWT Bearer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A3EE6-DAD9-4F9C-893A-6853CB2F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1762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3C9D8-57AF-4D0C-B1B5-C788DFFA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AFFF7-BEF1-481C-8FE7-576C3CD4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Route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A1DEF-38D9-4634-AFF2-03A5BF8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19375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Express modules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58710-B44C-4DE2-B2BD-9D63E623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1762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164EB-D2CA-48FF-85E2-CEF613FF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0FBF2-D77C-47E5-B2CA-60C6BC38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Transaction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E33FD-EFF9-4236-A218-6D4B790A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19375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BEGIN / COMMIT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2E523-398A-4C9B-8BED-EBE7F116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13A24-A0D6-4DDD-BF15-3510C269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8B5B0-1A1C-4BD0-A727-D65F142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43150"/>
            <a:ext cx="1095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Broadcast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7231C-BA31-420A-9ECA-30419863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619375"/>
            <a:ext cx="1095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WebSocket push</a:t>
            </a:r>
          </a:p>
        </p:txBody>
      </p:sp>
      <p:sp>
        <p:nvSpPr>
          <p:cNvPr id="27" name="connector">
            <a:extLst xmlns:a="http://schemas.openxmlformats.org/drawingml/2006/main">
              <a:ext uri="{FF2B5EF4-FFF2-40B4-BE49-F238E27FC236}">
                <a16:creationId xmlns:a16="http://schemas.microsoft.com/office/drawing/2014/main" id="{CC3C7D47-6C8E-405A-BF37-7ED64594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2581275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84C35-1BCF-44AB-89D2-83F89826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connector">
            <a:extLst xmlns:a="http://schemas.openxmlformats.org/drawingml/2006/main">
              <a:ext uri="{FF2B5EF4-FFF2-40B4-BE49-F238E27FC236}">
                <a16:creationId xmlns:a16="http://schemas.microsoft.com/office/drawing/2014/main" id="{B399C0DF-7B47-49D0-BA2C-565CB80E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2581275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0FCC4-B7D2-4585-8851-8E2C35C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33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onnector">
            <a:extLst xmlns:a="http://schemas.openxmlformats.org/drawingml/2006/main">
              <a:ext uri="{FF2B5EF4-FFF2-40B4-BE49-F238E27FC236}">
                <a16:creationId xmlns:a16="http://schemas.microsoft.com/office/drawing/2014/main" id="{02C1142B-F851-4C4F-97F9-924BAF7F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2581275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6F752F-AC26-424A-8D89-14310F22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connector">
            <a:extLst xmlns:a="http://schemas.openxmlformats.org/drawingml/2006/main">
              <a:ext uri="{FF2B5EF4-FFF2-40B4-BE49-F238E27FC236}">
                <a16:creationId xmlns:a16="http://schemas.microsoft.com/office/drawing/2014/main" id="{4361EFDB-8738-4E70-86A4-30629B28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25812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37D77E-A7E8-4B8F-8EA2-915D0C94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33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EB775-5C81-44D4-99F0-CE8E7C1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4286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F19B8C-65A7-44E6-89D9-B440626A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Core safeguards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63DE06-B277-476C-9F23-E74CB3B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68DADA-C40F-4AC0-9E54-7028F6E4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29125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bcrypt password comparison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A78FA0-7E31-4539-8DFC-A93A59A0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2A6FC7-D9BA-47D3-A165-DBADF53C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Zod schema validation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2DB932-446C-4B5E-A8F4-C1753522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38BD28-50C5-4EE0-8D63-72F2C533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62525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PostgreSQL pooled queries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00B3C2-C89D-49AE-9146-856B29E0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57625"/>
            <a:ext cx="4286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486227-3D0B-464B-9D52-E8788BFF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Robot contract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5D38B3-FEFD-4311-913E-A76086A2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903B26-F498-4A44-A453-895C633B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29125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dispatch creates robot_jobs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6A48C4-AC26-4D7F-8022-1EE9872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2453D2-687C-48CA-A0DF-50650AB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95825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dispense-success deducts inventory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22EF6A-836C-4BDC-B5AD-5E58945C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AE7420-8ED2-4F08-95FA-110D22AD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62525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abort broadcasts safely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0176D6-31C2-4E6F-807C-DB390E48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C33819-74B3-40B9-A6D8-7EA88218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6D26D5-908F-4753-9162-589C52A0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31713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646F6-F57F-4037-9148-51A1C41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0D569-4145-4512-A0B5-3084CA8A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B0F40-F92C-4087-BBE8-7A67C875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1A28C7D-BE01-4363-BDE9-E40E916B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52210B-3609-4DFA-9301-07EB93D3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841F1-F0CB-4279-BAD3-71DD3EBA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Two Flutter experiences share one operational backbone.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DB558-4D26-4DB3-BB02-25036A43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9EEE5-4D0F-4AF4-A651-8D4914A8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829FA-F6A2-4649-97B6-C9AC54A6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PharmaSysApp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0CCA9-E95F-4BB9-AA77-D83DF7BB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3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Manager + staff 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90F9F-E577-4298-8945-09C98AE2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FB184-6A47-4C34-951B-110E7C0E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38388-D790-4097-9CC1-24E18B17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RoshettyApp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1A0E7-4029-4135-BCB4-A69BC0E8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Patient requests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Arabic + English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3E762-7E39-43C5-A518-7FA229E0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43D5E-6549-4F6D-839D-5D068BD1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8E1B5-3B73-45D8-A259-CA0D7F12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AppShell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13FCB-DC35-499B-947B-96E7DE38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431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Role-aware navigation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D1260-1A99-467A-A992-CBB661DA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0490F-6DF7-49A7-8339-73DC966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12008-64B7-4E8B-A104-33D4D677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670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ApiService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DC8EC-EFEB-4393-8D38-FAAB89E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Typed DTOs + timeouts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74C2E-93D7-48A3-B646-150FF291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07305-5314-48BC-B3A8-91E2B42D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EE61F-5063-488B-81DF-20E76C00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671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TokenStore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2120C5-CCB8-4722-91C7-F90D7D5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433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Secure JWT 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6B67D-C4C4-463B-ABAA-119BB65C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E837F0-735A-428E-9FFD-AB2910C8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1D871-42C5-4229-B50D-FA396B8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954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CB0ED-7450-4FA5-B70F-2A0DEFDB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716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KPIs + revenue chart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0C2B0B-CAC5-42D4-A2B8-181407A4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BD4C3-DF6A-470B-A679-C9A6CB44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9CBCD9-81FA-4A1B-86E7-D1832A9F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574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9027DD-BA3C-4EDA-BE87-D26BC64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336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 health + bins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5BA115-FE05-4DF9-8F8A-6C884932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F33E6A-D003-4E74-AFBA-11F2A7B1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C72E33-A184-4374-92D2-907076A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Prescriptions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3DFA60-43B8-4339-AFB4-1D54C46D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956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link + checkout + dispatch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D8E298-39A5-4C28-A379-AE1F7E62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D79A24-2609-4275-AF4F-821E2438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B3BA33-07FF-4BE4-BA99-639790A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Robot Panel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02B596-BC4F-4680-ADC6-5DD8A9E7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576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queue + ACK feed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AA5F56-2548-44D6-9ED0-4132CF2C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29FC5E-83E1-4E6C-8005-DCC89215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5C1FFC-5A4D-4241-9736-2E578660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434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AI Center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F821D9-F372-43F4-A600-5442360E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96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fl_chart model insights</a:t>
            </a:r>
          </a:p>
        </p:txBody>
      </p:sp>
      <p:sp>
        <p:nvSpPr>
          <p:cNvPr id="47" name="connector">
            <a:extLst xmlns:a="http://schemas.openxmlformats.org/drawingml/2006/main">
              <a:ext uri="{FF2B5EF4-FFF2-40B4-BE49-F238E27FC236}">
                <a16:creationId xmlns:a16="http://schemas.microsoft.com/office/drawing/2014/main" id="{4D640FBE-6EFB-48F0-AD51-5BBE1170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23755">
            <a:off x="3028950" y="2524125"/>
            <a:ext cx="10438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57EB18-7D37-44C5-AE78-06255912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28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connector">
            <a:extLst xmlns:a="http://schemas.openxmlformats.org/drawingml/2006/main">
              <a:ext uri="{FF2B5EF4-FFF2-40B4-BE49-F238E27FC236}">
                <a16:creationId xmlns:a16="http://schemas.microsoft.com/office/drawing/2014/main" id="{55404E72-7C57-4F14-8DF0-2CC72F34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12567">
            <a:off x="3028950" y="4362450"/>
            <a:ext cx="158690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E98360-DBD8-4291-AA65-3577756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38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connector">
            <a:extLst xmlns:a="http://schemas.openxmlformats.org/drawingml/2006/main">
              <a:ext uri="{FF2B5EF4-FFF2-40B4-BE49-F238E27FC236}">
                <a16:creationId xmlns:a16="http://schemas.microsoft.com/office/drawing/2014/main" id="{BFDE3814-1357-4A10-B114-A926C190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86916">
            <a:off x="6210300" y="3076575"/>
            <a:ext cx="10428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8A3381-6BFD-4A23-A673-51789FFF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24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90ADD0-5F7B-45F6-8654-FDB25877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F92CE1-EF52-47B8-B6CB-75C1D56B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2A2BD1-1BE3-4434-B796-83843B5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5659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1D5E7-2A4F-4416-B6BF-ADDCF2C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3C7EC-9A34-458D-A80E-882C3DB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8A4F0-3C10-4AA4-9F8B-47F39BA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BD7CCC-A3C0-48E1-9AE0-5DAF2A52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8D88D61-E602-4C11-ACFA-FC1E362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HCI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F99AA-2278-4FC3-96CE-40AAEC4D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interface reduces stress before errors happen.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87C38-041F-44FB-976D-5F88C2BB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58375-BD05-4AE7-976D-F41893B6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00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D8604-3457-40D5-A371-B184AFF1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Pharmacist Console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A04BE-604E-476F-B10F-64EBDB87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6B142-8126-4BB9-9A79-02B2AC0A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4BDDC-1C9B-48A5-9A59-864FB04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F81FF-8D65-4C1A-8E1C-31891F69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5 pending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A886A-7BCC-4571-9CBB-4E7C0428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717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E7EB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D66FD-D004-42EA-A12D-F48FE5F2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35D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B0E24-5BAA-4926-8870-91970830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432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Expiry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61203-A5EF-48DD-8EE0-AACCFB3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Risk detected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00802-E4C2-406D-8FE0-1A45E9D3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2BA25-A830-49F3-B341-E693C88F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39C0B-56F8-45A5-A765-B4AB865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Robot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FAB8B-6C5F-43A2-A4C1-A83643C0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907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Moving...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4F1D6-E008-4001-984A-3CE00728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D6294-FD0A-4169-B283-F566B742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90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CA50D-D75D-4CD5-B50C-272204CD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9095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A0534-9E73-42CA-80B1-88780F23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2907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Live synced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D57EA-4D48-496D-BD1F-F518B12F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95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Roshetty Patient 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9C502-EF76-49F1-928C-670EAF3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E3E57-9CFB-41D1-A410-D1EA04DE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Scan Prescription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506F66-F71C-4627-B7E0-9E3AB2B5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7185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2B9C99-092E-4CD7-A62C-9149D507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242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Manual Request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BA18BE-B586-4260-8536-AB8E25F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2FB77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F0475A-DACC-4252-A0C9-F8F0FF7E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966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966D"/>
                </a:solidFill>
                <a:latin typeface="Aptos"/>
                <a:ea typeface="Aptos"/>
                <a:cs typeface="Aptos"/>
              </a:rPr>
              <a:t>Track Order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D1C870-37D9-4728-B36C-886E6CD9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21621F-626D-46E1-98CB-77DD6FFD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721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Low cognitive load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86C15-F2E4-4C0A-8CE1-B4348699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38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D251FC-70C8-4B86-B3E2-2D860703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21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Fast visual scanning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13282F-59F8-4451-8AC4-D5D5DF3A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8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82A2B1-613C-4F5D-AD39-DE152AB8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721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Clear status colors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627272-2799-421E-B9A4-E3305AA3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EFA3E4-9323-46EF-BBD8-46FA83A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721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RTL and LTR support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974E34-F873-4826-BF91-E8083411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654C12-F20C-4937-A0E2-1461073E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97595C-25E3-440F-B5C6-A013B432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45456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FA3D5-7CBF-4AAE-9C3F-17A5E842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846D1-57AC-444D-BBD0-C07B0DD0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442DA-4CF0-4A40-BEBC-C388D6DC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6C4058-8F01-409B-9B42-1FAC04D7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6DD667-DD6C-42E0-B23E-E1484D79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AC6C9-A2BD-4138-B463-7302E803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Reliability is built through guardrails and targeted QA.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4E2C0-B9CF-4048-B6AB-C829153D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143250" cy="33528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15787-0C85-451D-B2ED-4801932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Testing Pyramid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9184F-C46D-41F7-A1B5-CA576B6C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72318-DBB3-44D4-B905-7B1B6EA9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3865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Flutter smoke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347B6-2AA2-44AE-A2F5-78BC432F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55525-81CB-477E-8992-B7D9E85D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829050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96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966D"/>
                </a:solidFill>
                <a:latin typeface="Aptos"/>
                <a:ea typeface="Aptos"/>
                <a:cs typeface="Aptos"/>
              </a:rPr>
              <a:t>API integration targets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C585D-06D1-435D-A2D4-DFCC133A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800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5EF64-FD55-41E9-A19B-29A783E7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2194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8C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8CEB"/>
                </a:solidFill>
                <a:latin typeface="Aptos"/>
                <a:ea typeface="Aptos"/>
                <a:cs typeface="Aptos"/>
              </a:rPr>
              <a:t>End-to-end robot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4715D-1B75-4E86-AD4C-4763A54E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2952750" cy="33528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4D95B-C463-47BC-A660-64C26D1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52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Implemented Guardrails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C7572-324D-48D3-AC73-27ED25E1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217A4-761E-42C8-81AF-7D7B81E1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670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Zod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15BA9-57BA-4FBB-BC2E-19CB03BF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73486-AA5C-4FAC-888D-2146220A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1942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JWT rejection paths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EA4AA-609B-41F3-BC24-F9EDD80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38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01689-E0AE-499F-9AEF-434844A4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718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Transaction rollbacks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288EB-FE42-49C4-BEB1-810F3C0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90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70F91-E547-449C-AF51-52759160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72427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OCR upload limits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8838F-5D20-4790-B559-D1426151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43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13741-B6F2-4FBD-A0FD-422A713F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767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Public rate limiting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746FBF-26D8-407F-B615-B70D8F63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95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B3210-DD28-4DDC-A404-25FBBBE9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42912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Expiry checkout block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D9355-A47C-403B-A989-F423CC6D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143250" cy="33528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F45DC3-6268-4832-BDAB-3E948B5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Honest Test 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05FB9-3A69-4969-BC58-0260C146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7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2F7207-3AD4-4234-8491-966FCB6F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Backend test script pending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4F973-BCA2-4C78-8CEB-24906C95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C97C8A-23D3-4BC4-A8D5-B3910F62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Coverage not yet measured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B4BDAB-AE29-4F00-B738-13FE293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48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1C67CF-BBAE-4B62-BABF-84319530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Load tests recommended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2BA805-28EF-42F5-AD56-DDDD07CA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3B1227-B221-499A-B5C8-34551D03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814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Hardware endpoint requires QA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277862-4BF8-4890-9DA5-AF647064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48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5C4444-2BCC-4414-B129-E89327E2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815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Widget tests need updating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47EB34-A31D-49ED-86FF-AB25955F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4A1D74-4DA9-442E-82EC-87A6BA7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634F11-4A2B-47FE-BE17-5C23D0CD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41844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8C46B-1538-43CA-B826-B70A64B3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E6E16-4124-4980-ABE8-8A755795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A3D71-1B3D-45EF-A32E-51D1A93A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A04EFB-1DE6-4633-94C8-9B3A1F9D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BCD90BD-B106-42C3-8143-EE9FC9C7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OUTLOOK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02D8D-129F-4424-9B27-BFBFB049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APMS can scale from prototype into pharmacy infrastructure.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0879-7A42-4625-928E-DE1F2748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1B550-85E6-4945-B045-DAB06EF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F34F7-E4AC-4664-8582-7FD5B8E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75352-DCD7-4204-8830-9D010B4C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APMS MVP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 + patient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AAF39-B2FD-4159-AF2D-9031FA2F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EC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A652A-2EF6-4134-A5B0-BF290189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3E879-3B05-41EB-BB86-2D0C9912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B22CF-835D-4339-83B9-F4FE140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Robot endpoint hardening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Firmware ACK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9864C-5F84-43E9-B7C1-A594B370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641DA-3B38-453E-A45E-DF809C3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69029-C891-4D88-9FBD-6E2D1AEB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0C303-EC1F-480A-8278-6F887E73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0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Edge OCR deployment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Model retraining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085EB-14AE-4566-B956-56264945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CB943-F723-47EC-A14F-6ACAA17D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3D5C9-32F2-4BF3-B23F-07B0612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43CE6-9C95-4E24-9613-B9C26633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Multi-branch inventory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Supplier automation</a:t>
            </a:r>
          </a:p>
        </p:txBody>
      </p:sp>
      <p:sp>
        <p:nvSpPr>
          <p:cNvPr id="23" name="connector">
            <a:extLst xmlns:a="http://schemas.openxmlformats.org/drawingml/2006/main">
              <a:ext uri="{FF2B5EF4-FFF2-40B4-BE49-F238E27FC236}">
                <a16:creationId xmlns:a16="http://schemas.microsoft.com/office/drawing/2014/main" id="{63EFB7D5-E146-4039-9037-3288ECE4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30289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EA7BD-2E31-4F22-8AA8-9714A59D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onnector">
            <a:extLst xmlns:a="http://schemas.openxmlformats.org/drawingml/2006/main">
              <a:ext uri="{FF2B5EF4-FFF2-40B4-BE49-F238E27FC236}">
                <a16:creationId xmlns:a16="http://schemas.microsoft.com/office/drawing/2014/main" id="{306756D1-3BFA-4F2F-A902-EEDF6DA8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0289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AF9E1-1A0D-48C6-9ADA-435B21E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81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8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connector">
            <a:extLst xmlns:a="http://schemas.openxmlformats.org/drawingml/2006/main">
              <a:ext uri="{FF2B5EF4-FFF2-40B4-BE49-F238E27FC236}">
                <a16:creationId xmlns:a16="http://schemas.microsoft.com/office/drawing/2014/main" id="{16999BC5-84B1-4983-BBAB-0600A4B7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0289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F7FDE-97D8-4340-B8FD-46AB9951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81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7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46B2CC-2E8A-4A79-A987-95AA12A2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76750"/>
            <a:ext cx="676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F8C2AE-4310-447F-A183-956BE14E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Secure. Realtime. Intelligent. Human-centered.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A5F314-56D1-4EFD-8D91-AE14D3E0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435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From manual chaos to connected pharmacy operations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B60349-5E2F-4496-B419-A831619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C29FF5-EB60-4124-8C7B-A945637D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F0356-E68C-4E99-8100-0DD4A4D4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9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A90D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2995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2026-05-20T21:02:13.1640000Z</dcterms:created>
  <dcterms:modified xsi:type="dcterms:W3CDTF">2026-05-20T21:02:13.1640000Z</dcterms:modified>
</coreProperties>
</file>