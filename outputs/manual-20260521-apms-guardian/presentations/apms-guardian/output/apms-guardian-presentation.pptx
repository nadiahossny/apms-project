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304ca578d94361" /><Relationship Type="http://schemas.openxmlformats.org/officeDocument/2006/relationships/extended-properties" Target="/docProps/app.xml" Id="R31f8e99c137d4bc1" /><Relationship Type="http://schemas.openxmlformats.org/officeDocument/2006/relationships/officeDocument" Target="/ppt/presentation.xml" Id="R9990f297a7a349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b0b4b384cb4044"/>
  </p:sldMasterIdLst>
  <p:notesMasterIdLst>
    <p:notesMasterId xmlns:r="http://schemas.openxmlformats.org/officeDocument/2006/relationships" r:id="Rdc8ac6a807974db3"/>
  </p:notesMasterIdLst>
  <p:sldIdLst>
    <p:sldId xmlns:r="http://schemas.openxmlformats.org/officeDocument/2006/relationships" id="256" r:id="R520aabb2b5e04b05"/>
    <p:sldId xmlns:r="http://schemas.openxmlformats.org/officeDocument/2006/relationships" id="257" r:id="R312e7fbe8f3348ed"/>
    <p:sldId xmlns:r="http://schemas.openxmlformats.org/officeDocument/2006/relationships" id="258" r:id="R7d8a73d39a574890"/>
    <p:sldId xmlns:r="http://schemas.openxmlformats.org/officeDocument/2006/relationships" id="259" r:id="R12bb4d6c0bf24546"/>
    <p:sldId xmlns:r="http://schemas.openxmlformats.org/officeDocument/2006/relationships" id="260" r:id="R9ce4b523c57b4da4"/>
    <p:sldId xmlns:r="http://schemas.openxmlformats.org/officeDocument/2006/relationships" id="261" r:id="Rce757b83ae97409b"/>
    <p:sldId xmlns:r="http://schemas.openxmlformats.org/officeDocument/2006/relationships" id="262" r:id="R753f4668af7c4a88"/>
    <p:sldId xmlns:r="http://schemas.openxmlformats.org/officeDocument/2006/relationships" id="263" r:id="R41229c333df64f0a"/>
    <p:sldId xmlns:r="http://schemas.openxmlformats.org/officeDocument/2006/relationships" id="264" r:id="R8c8f8c8fe4d5449e"/>
    <p:sldId xmlns:r="http://schemas.openxmlformats.org/officeDocument/2006/relationships" id="265" r:id="Rcf928f8873f74985"/>
    <p:sldId xmlns:r="http://schemas.openxmlformats.org/officeDocument/2006/relationships" id="266" r:id="R2ec88fc47d9d4960"/>
    <p:sldId xmlns:r="http://schemas.openxmlformats.org/officeDocument/2006/relationships" id="267" r:id="Rc86de6341e5e419b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b0b4b384cb4044" /><Relationship Type="http://schemas.openxmlformats.org/officeDocument/2006/relationships/theme" Target="/ppt/theme/theme1.xml" Id="Radc477d12fc14aeb" /><Relationship Type="http://schemas.openxmlformats.org/officeDocument/2006/relationships/notesMaster" Target="/ppt/notesMasters/notesMaster1.xml" Id="Rdc8ac6a807974db3" /><Relationship Type="http://schemas.openxmlformats.org/officeDocument/2006/relationships/presProps" Target="/ppt/presProps.xml" Id="R7fe7a20702d641f9" /><Relationship Type="http://schemas.openxmlformats.org/officeDocument/2006/relationships/viewProps" Target="/ppt/viewProps.xml" Id="R19fcafa1a5a74eb8" /><Relationship Type="http://schemas.openxmlformats.org/officeDocument/2006/relationships/tableStyles" Target="/ppt/tableStyles.xml" Id="Rd9033d4e78934661" /><Relationship Type="http://schemas.openxmlformats.org/officeDocument/2006/relationships/slide" Target="/ppt/slides/slide1.xml" Id="R520aabb2b5e04b05" /><Relationship Type="http://schemas.openxmlformats.org/officeDocument/2006/relationships/slide" Target="/ppt/slides/slide2.xml" Id="R312e7fbe8f3348ed" /><Relationship Type="http://schemas.openxmlformats.org/officeDocument/2006/relationships/slide" Target="/ppt/slides/slide3.xml" Id="R7d8a73d39a574890" /><Relationship Type="http://schemas.openxmlformats.org/officeDocument/2006/relationships/slide" Target="/ppt/slides/slide4.xml" Id="R12bb4d6c0bf24546" /><Relationship Type="http://schemas.openxmlformats.org/officeDocument/2006/relationships/slide" Target="/ppt/slides/slide5.xml" Id="R9ce4b523c57b4da4" /><Relationship Type="http://schemas.openxmlformats.org/officeDocument/2006/relationships/slide" Target="/ppt/slides/slide6.xml" Id="Rce757b83ae97409b" /><Relationship Type="http://schemas.openxmlformats.org/officeDocument/2006/relationships/slide" Target="/ppt/slides/slide7.xml" Id="R753f4668af7c4a88" /><Relationship Type="http://schemas.openxmlformats.org/officeDocument/2006/relationships/slide" Target="/ppt/slides/slide8.xml" Id="R41229c333df64f0a" /><Relationship Type="http://schemas.openxmlformats.org/officeDocument/2006/relationships/slide" Target="/ppt/slides/slide9.xml" Id="R8c8f8c8fe4d5449e" /><Relationship Type="http://schemas.openxmlformats.org/officeDocument/2006/relationships/slide" Target="/ppt/slides/slide10.xml" Id="Rcf928f8873f74985" /><Relationship Type="http://schemas.openxmlformats.org/officeDocument/2006/relationships/slide" Target="/ppt/slides/slide11.xml" Id="R2ec88fc47d9d4960" /><Relationship Type="http://schemas.openxmlformats.org/officeDocument/2006/relationships/slide" Target="/ppt/slides/slide12.xml" Id="Rc86de6341e5e41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5eece38dbac41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6bff628b3b4104" /><Relationship Type="http://schemas.openxmlformats.org/officeDocument/2006/relationships/notesMaster" Target="/ppt/notesMasters/notesMaster1.xml" Id="Rdecd98abf8cf4c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2c830c54914f60" /><Relationship Type="http://schemas.openxmlformats.org/officeDocument/2006/relationships/notesMaster" Target="/ppt/notesMasters/notesMaster1.xml" Id="R0c67195187a04b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fd675128fa46fd" /><Relationship Type="http://schemas.openxmlformats.org/officeDocument/2006/relationships/notesMaster" Target="/ppt/notesMasters/notesMaster1.xml" Id="R7d80db509ae74b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8a7b51511c4327" /><Relationship Type="http://schemas.openxmlformats.org/officeDocument/2006/relationships/notesMaster" Target="/ppt/notesMasters/notesMaster1.xml" Id="R31c16b92230a4a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bc4adcbafe4d4b" /><Relationship Type="http://schemas.openxmlformats.org/officeDocument/2006/relationships/notesMaster" Target="/ppt/notesMasters/notesMaster1.xml" Id="Re9cf9beffd2c47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877b93a6a8427c" /><Relationship Type="http://schemas.openxmlformats.org/officeDocument/2006/relationships/notesMaster" Target="/ppt/notesMasters/notesMaster1.xml" Id="R3abf36139d2440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69c3fccfd64d40" /><Relationship Type="http://schemas.openxmlformats.org/officeDocument/2006/relationships/notesMaster" Target="/ppt/notesMasters/notesMaster1.xml" Id="R0bcc20d8464647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df47b05cdf4f15" /><Relationship Type="http://schemas.openxmlformats.org/officeDocument/2006/relationships/notesMaster" Target="/ppt/notesMasters/notesMaster1.xml" Id="R8396cb60a2964b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adcef642be4652" /><Relationship Type="http://schemas.openxmlformats.org/officeDocument/2006/relationships/notesMaster" Target="/ppt/notesMasters/notesMaster1.xml" Id="R606895e4fa5340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43e5f83cf9444b" /><Relationship Type="http://schemas.openxmlformats.org/officeDocument/2006/relationships/notesMaster" Target="/ppt/notesMasters/notesMaster1.xml" Id="Re29561766dcd48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660bf83ed645cc" /><Relationship Type="http://schemas.openxmlformats.org/officeDocument/2006/relationships/notesMaster" Target="/ppt/notesMasters/notesMaster1.xml" Id="R82260a6b7cd84f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a758b385bd4dd6" /><Relationship Type="http://schemas.openxmlformats.org/officeDocument/2006/relationships/notesMaster" Target="/ppt/notesMasters/notesMaster1.xml" Id="R5fc8b3f877ef4a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f3b82f0b2409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ed923a786554bcb" /><Relationship Type="http://schemas.openxmlformats.org/officeDocument/2006/relationships/slideLayout" Target="/ppt/slideLayouts/slideLayout2.xml" Id="Ra58607dae7e84d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8607dae7e84d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b7fe167ef44e75" /><Relationship Type="http://schemas.openxmlformats.org/officeDocument/2006/relationships/notesSlide" Target="/ppt/notesSlides/notesSlide1.xml" Id="Rd4bc525464e44d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78bd2613344999" /><Relationship Type="http://schemas.openxmlformats.org/officeDocument/2006/relationships/notesSlide" Target="/ppt/notesSlides/notesSlide2.xml" Id="Ra871cabbf80749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7b7b5eb8844085" /><Relationship Type="http://schemas.openxmlformats.org/officeDocument/2006/relationships/image" Target="/ppt/media/image.png" Id="Rde2542bbe1dd4a5e" /><Relationship Type="http://schemas.openxmlformats.org/officeDocument/2006/relationships/image" Target="/ppt/media/image.svg" Id="Rd8e831ecc1094adf" /><Relationship Type="http://schemas.openxmlformats.org/officeDocument/2006/relationships/image" Target="/ppt/media/image2.png" Id="R147cba2e86df49c1" /><Relationship Type="http://schemas.openxmlformats.org/officeDocument/2006/relationships/image" Target="/ppt/media/image2.svg" Id="Rf31428c9db894fce" /><Relationship Type="http://schemas.openxmlformats.org/officeDocument/2006/relationships/notesSlide" Target="/ppt/notesSlides/notesSlide3.xml" Id="Rd8e8377d57ce40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b3e973d9a04f0c" /><Relationship Type="http://schemas.openxmlformats.org/officeDocument/2006/relationships/notesSlide" Target="/ppt/notesSlides/notesSlide4.xml" Id="Rfa3f1d44957d47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a5465963034b76" /><Relationship Type="http://schemas.openxmlformats.org/officeDocument/2006/relationships/notesSlide" Target="/ppt/notesSlides/notesSlide5.xml" Id="R1ecafff646cf4e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df62ecce1242df" /><Relationship Type="http://schemas.openxmlformats.org/officeDocument/2006/relationships/notesSlide" Target="/ppt/notesSlides/notesSlide6.xml" Id="Rc9b3ffd7cc7941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d0ebbc3faa411d" /><Relationship Type="http://schemas.openxmlformats.org/officeDocument/2006/relationships/notesSlide" Target="/ppt/notesSlides/notesSlide7.xml" Id="Rc4879f30d9464d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0abcfb1e914ba1" /><Relationship Type="http://schemas.openxmlformats.org/officeDocument/2006/relationships/notesSlide" Target="/ppt/notesSlides/notesSlide8.xml" Id="R9ab1caf210cb46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dd426372a9464d" /><Relationship Type="http://schemas.openxmlformats.org/officeDocument/2006/relationships/notesSlide" Target="/ppt/notesSlides/notesSlide9.xml" Id="R0aac20b261b745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c50b3ee2404217" /><Relationship Type="http://schemas.openxmlformats.org/officeDocument/2006/relationships/notesSlide" Target="/ppt/notesSlides/notesSlide10.xml" Id="R042ff19eb96f4c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7bc821a1314458" /><Relationship Type="http://schemas.openxmlformats.org/officeDocument/2006/relationships/notesSlide" Target="/ppt/notesSlides/notesSlide11.xml" Id="Rd8ca5ff578884f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3cbd8082f24240" /><Relationship Type="http://schemas.openxmlformats.org/officeDocument/2006/relationships/notesSlide" Target="/ppt/notesSlides/notesSlide12.xml" Id="R000047537dbe40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F19F653-E83C-4A5A-ACC6-21B06AC3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wash">
            <a:extLst xmlns:a="http://schemas.openxmlformats.org/drawingml/2006/main">
              <a:ext uri="{FF2B5EF4-FFF2-40B4-BE49-F238E27FC236}">
                <a16:creationId xmlns:a16="http://schemas.microsoft.com/office/drawing/2014/main" id="{14A401E1-81D2-4BCB-8763-60A58509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EEF9FF"/>
            </a:solidFill>
          </a:ln>
        </p:spPr>
      </p:sp>
      <p:sp>
        <p:nvSpPr>
          <p:cNvPr id="3" name="top-band">
            <a:extLst xmlns:a="http://schemas.openxmlformats.org/drawingml/2006/main">
              <a:ext uri="{FF2B5EF4-FFF2-40B4-BE49-F238E27FC236}">
                <a16:creationId xmlns:a16="http://schemas.microsoft.com/office/drawing/2014/main" id="{2D9C511F-3830-452F-8E1B-EB1B0B9D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bottom-band">
            <a:extLst xmlns:a="http://schemas.openxmlformats.org/drawingml/2006/main">
              <a:ext uri="{FF2B5EF4-FFF2-40B4-BE49-F238E27FC236}">
                <a16:creationId xmlns:a16="http://schemas.microsoft.com/office/drawing/2014/main" id="{B0EB4730-FA99-4C81-A849-BFBB2224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8670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CE3BC3B-9B52-4A41-A98D-5836A8F2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APMS Graduation Project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3104B0B-B98B-45E0-83F6-F9190A7E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8096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AI + Software + Hardware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9A0684E-ED77-4C5D-A5B5-94B04EAB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184"/>
                </a:solidFill>
                <a:latin typeface="Aptos"/>
                <a:ea typeface="Aptos"/>
                <a:cs typeface="Aptos"/>
              </a:rPr>
              <a:t>SLIDE 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9E63354-E057-4D01-AE8D-1B3CAA1F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Title &amp; Identity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B91A9D5-D0C4-4D4E-BE29-D29D8348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Intelligent Dispensing, AI Integration, Secure Pharmacy Logistics</a:t>
            </a:r>
          </a:p>
        </p:txBody>
      </p:sp>
      <p:sp>
        <p:nvSpPr>
          <p:cNvPr id="10" name="hero">
            <a:extLst xmlns:a="http://schemas.openxmlformats.org/drawingml/2006/main">
              <a:ext uri="{FF2B5EF4-FFF2-40B4-BE49-F238E27FC236}">
                <a16:creationId xmlns:a16="http://schemas.microsoft.com/office/drawing/2014/main" id="{92CB5C44-8A81-4020-B77F-FDF191AF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39065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7765E9F7-C8FC-4000-A264-7C3E4B53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1381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EB783CA-1FBE-4D78-BF9C-BA3108A4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146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PUA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4EA17C0-88C7-4200-A9B0-17A147F2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7180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University</a:t>
            </a:r>
          </a:p>
          <a:p xmlns:a="http://schemas.openxmlformats.org/drawingml/2006/main">
            <a:pPr algn="ctr">
              <a:defRPr sz="12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Logo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8A911D4-E5B5-4CC1-986E-08781862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APMS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6680FBB-5A1F-4F04-8838-C63F5BAD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Automated Pharmacy Management System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3FA36C5-A2EB-4BB6-BC63-71CD7955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76625"/>
            <a:ext cx="676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AI chatbot + Flutter apps + PostgreSQL + robotic dispensing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12CB02A8-33A2-4FCE-9E46-5EC1649D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43125"/>
            <a:ext cx="4000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C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E4F3B03-B28B-48D5-90AA-424110E1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00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Team Members</a:t>
            </a:r>
          </a:p>
        </p:txBody>
      </p:sp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BCA477E9-63A3-4AEB-8EDE-CD6B14C4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956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93DEF55-6D17-43E1-89A3-ACE69A05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4322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Presenter / Team Lead</a:t>
            </a:r>
          </a:p>
        </p:txBody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82A7B216-6ACD-48C2-A22C-C46D7FF2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766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8124D75-7066-4649-849B-1A6F7799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2422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Backend / Database</a:t>
            </a:r>
          </a:p>
        </p:txBody>
      </p:sp>
      <p:sp>
        <p:nvSpPr>
          <p:cNvPr id="23" name="shape">
            <a:extLst xmlns:a="http://schemas.openxmlformats.org/drawingml/2006/main">
              <a:ext uri="{FF2B5EF4-FFF2-40B4-BE49-F238E27FC236}">
                <a16:creationId xmlns:a16="http://schemas.microsoft.com/office/drawing/2014/main" id="{6BB320B8-ECBF-45CF-96CB-76929A75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576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A56C62B-DA2C-4D30-8A2E-D7F5193E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70522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AI / OCR Pipeline</a:t>
            </a:r>
          </a:p>
        </p:txBody>
      </p:sp>
      <p:sp>
        <p:nvSpPr>
          <p:cNvPr id="25" name="shape">
            <a:extLst xmlns:a="http://schemas.openxmlformats.org/drawingml/2006/main">
              <a:ext uri="{FF2B5EF4-FFF2-40B4-BE49-F238E27FC236}">
                <a16:creationId xmlns:a16="http://schemas.microsoft.com/office/drawing/2014/main" id="{F02C5ACF-A094-4D02-9EEE-F547F5AA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386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5833ED2-D869-4CC3-9DA0-DEA00497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08622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Frontend / HCI</a:t>
            </a:r>
          </a:p>
        </p:txBody>
      </p:sp>
      <p:sp>
        <p:nvSpPr>
          <p:cNvPr id="27" name="shape">
            <a:extLst xmlns:a="http://schemas.openxmlformats.org/drawingml/2006/main">
              <a:ext uri="{FF2B5EF4-FFF2-40B4-BE49-F238E27FC236}">
                <a16:creationId xmlns:a16="http://schemas.microsoft.com/office/drawing/2014/main" id="{FABDA9E4-7B34-4FCC-A52A-BF3E669D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196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BB135CC-14CF-4204-B534-74839B62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6722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Hardware Integration</a:t>
            </a:r>
          </a:p>
        </p:txBody>
      </p:sp>
      <p:sp>
        <p:nvSpPr>
          <p:cNvPr id="29" name="card">
            <a:extLst xmlns:a="http://schemas.openxmlformats.org/drawingml/2006/main">
              <a:ext uri="{FF2B5EF4-FFF2-40B4-BE49-F238E27FC236}">
                <a16:creationId xmlns:a16="http://schemas.microsoft.com/office/drawing/2014/main" id="{055F785B-55E9-41AD-B468-120CCF9D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29250"/>
            <a:ext cx="2238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F090D6C4-0CE9-4538-B844-15BFACEE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6197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Flutter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DCA98820-E786-4900-878B-4CDEFC33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9626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Mobile + dashboard clients</a:t>
            </a:r>
          </a:p>
        </p:txBody>
      </p:sp>
      <p:sp>
        <p:nvSpPr>
          <p:cNvPr id="32" name="card">
            <a:extLst xmlns:a="http://schemas.openxmlformats.org/drawingml/2006/main">
              <a:ext uri="{FF2B5EF4-FFF2-40B4-BE49-F238E27FC236}">
                <a16:creationId xmlns:a16="http://schemas.microsoft.com/office/drawing/2014/main" id="{68DF7231-716E-4C3F-8E46-4C73BC51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429250"/>
            <a:ext cx="2238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2D60C20-1934-439F-A7FB-4100902D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6197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Express TS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668C6CE3-FA58-40B0-B0AE-5BC48209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9626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REST APIs + WebSockets</a:t>
            </a:r>
          </a:p>
        </p:txBody>
      </p:sp>
      <p:sp>
        <p:nvSpPr>
          <p:cNvPr id="35" name="card">
            <a:extLst xmlns:a="http://schemas.openxmlformats.org/drawingml/2006/main">
              <a:ext uri="{FF2B5EF4-FFF2-40B4-BE49-F238E27FC236}">
                <a16:creationId xmlns:a16="http://schemas.microsoft.com/office/drawing/2014/main" id="{631A2981-30A5-4516-8177-84725F6E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429250"/>
            <a:ext cx="2238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B33D4E05-C4B4-4B7C-AD37-9D1EA87E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6197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26C51C29-9078-4406-9ACD-6EE6404F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9626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Relational APMS data</a:t>
            </a:r>
          </a:p>
        </p:txBody>
      </p:sp>
      <p:sp>
        <p:nvSpPr>
          <p:cNvPr id="38" name="card">
            <a:extLst xmlns:a="http://schemas.openxmlformats.org/drawingml/2006/main">
              <a:ext uri="{FF2B5EF4-FFF2-40B4-BE49-F238E27FC236}">
                <a16:creationId xmlns:a16="http://schemas.microsoft.com/office/drawing/2014/main" id="{C6E4B7DA-CA25-45CC-A644-78FD4EF1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429250"/>
            <a:ext cx="2238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7A07C767-3650-4F3B-A42A-09AA5810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6197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FastAPI/OCR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F5D2FFC3-137D-41AB-95A4-35E97AFC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9626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AI extraction services</a:t>
            </a:r>
          </a:p>
        </p:txBody>
      </p:sp>
      <p:sp>
        <p:nvSpPr>
          <p:cNvPr id="41" name="card">
            <a:extLst xmlns:a="http://schemas.openxmlformats.org/drawingml/2006/main">
              <a:ext uri="{FF2B5EF4-FFF2-40B4-BE49-F238E27FC236}">
                <a16:creationId xmlns:a16="http://schemas.microsoft.com/office/drawing/2014/main" id="{CB669EF9-EAE1-48AE-9B31-734C16E2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429250"/>
            <a:ext cx="2238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71DE9601-CFEF-43E2-8492-5FB70F27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56197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SerialPort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331FCF58-802B-4A60-B780-0B1CA061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59626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Robotic arm jobs</a:t>
            </a:r>
          </a:p>
        </p:txBody>
      </p:sp>
    </p:spTree>
    <p:extLst>
      <p:ext uri="{BB962C8B-B14F-4D97-AF65-F5344CB8AC3E}">
        <p14:creationId xmlns:p14="http://schemas.microsoft.com/office/powerpoint/2010/main" val="16475965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703F5CE-4E8A-4D64-BF25-5FC2288D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wash">
            <a:extLst xmlns:a="http://schemas.openxmlformats.org/drawingml/2006/main">
              <a:ext uri="{FF2B5EF4-FFF2-40B4-BE49-F238E27FC236}">
                <a16:creationId xmlns:a16="http://schemas.microsoft.com/office/drawing/2014/main" id="{6F2527B1-CF00-4C2B-B1AF-9611E3CB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EEF9FF"/>
            </a:solidFill>
          </a:ln>
        </p:spPr>
      </p:sp>
      <p:sp>
        <p:nvSpPr>
          <p:cNvPr id="3" name="top-band">
            <a:extLst xmlns:a="http://schemas.openxmlformats.org/drawingml/2006/main">
              <a:ext uri="{FF2B5EF4-FFF2-40B4-BE49-F238E27FC236}">
                <a16:creationId xmlns:a16="http://schemas.microsoft.com/office/drawing/2014/main" id="{119CC0F1-4560-4878-9AF1-5B362069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bottom-band">
            <a:extLst xmlns:a="http://schemas.openxmlformats.org/drawingml/2006/main">
              <a:ext uri="{FF2B5EF4-FFF2-40B4-BE49-F238E27FC236}">
                <a16:creationId xmlns:a16="http://schemas.microsoft.com/office/drawing/2014/main" id="{BF985D73-64D5-490A-9CC0-1F9711B6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8670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9C49709-A0B3-4939-8F18-E779764B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APMS Graduation Project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9241F9E-A099-4CFC-8B5C-50A94BAC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8096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AI + Software + Hardware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458B3F4-3DE5-4627-B484-A0A57582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184"/>
                </a:solidFill>
                <a:latin typeface="Aptos"/>
                <a:ea typeface="Aptos"/>
                <a:cs typeface="Aptos"/>
              </a:rPr>
              <a:t>SLIDE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858357A-578E-471B-A255-9AF81C4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Introduction &amp; Motivation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A3C6246-FF0A-4DA1-9C5F-9156CEC1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The villain: manual pharmacy chaos</a:t>
            </a:r>
          </a:p>
        </p:txBody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8AA3C71C-DA17-471E-9DAF-C12AFCDA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62865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D15E48D2-D2F4-437B-89DA-4B0E142C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62865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F065B2F-26F6-4AD7-B25B-5DF0C268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764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D444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AD4444"/>
                </a:solidFill>
                <a:latin typeface="Aptos"/>
                <a:ea typeface="Aptos"/>
                <a:cs typeface="Aptos"/>
              </a:rPr>
              <a:t>Traditional Pharmacy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741C35E-C9B5-46D0-ACE2-50E746D7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764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APMS Workflow</a:t>
            </a:r>
          </a:p>
        </p:txBody>
      </p:sp>
      <p:sp>
        <p:nvSpPr>
          <p:cNvPr id="14" name="dot">
            <a:extLst xmlns:a="http://schemas.openxmlformats.org/drawingml/2006/main">
              <a:ext uri="{FF2B5EF4-FFF2-40B4-BE49-F238E27FC236}">
                <a16:creationId xmlns:a16="http://schemas.microsoft.com/office/drawing/2014/main" id="{607F746D-2D62-45BA-B1B8-5B23F9C5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1F75913-CA40-42D7-A4D8-AF36D5A9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575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3A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E3A3A"/>
                </a:solidFill>
                <a:latin typeface="Aptos"/>
                <a:ea typeface="Aptos"/>
                <a:cs typeface="Aptos"/>
              </a:rPr>
              <a:t>Crowded waiting areas</a:t>
            </a:r>
          </a:p>
        </p:txBody>
      </p:sp>
      <p:sp>
        <p:nvSpPr>
          <p:cNvPr id="16" name="dot">
            <a:extLst xmlns:a="http://schemas.openxmlformats.org/drawingml/2006/main">
              <a:ext uri="{FF2B5EF4-FFF2-40B4-BE49-F238E27FC236}">
                <a16:creationId xmlns:a16="http://schemas.microsoft.com/office/drawing/2014/main" id="{3962C7B6-0D08-48D6-91F5-B7D9BDC2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4CFE9B5-7CE3-41BD-8734-82D103D9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480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3A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E3A3A"/>
                </a:solidFill>
                <a:latin typeface="Aptos"/>
                <a:ea typeface="Aptos"/>
                <a:cs typeface="Aptos"/>
              </a:rPr>
              <a:t>Manual prescription lookup</a:t>
            </a:r>
          </a:p>
        </p:txBody>
      </p:sp>
      <p:sp>
        <p:nvSpPr>
          <p:cNvPr id="18" name="dot">
            <a:extLst xmlns:a="http://schemas.openxmlformats.org/drawingml/2006/main">
              <a:ext uri="{FF2B5EF4-FFF2-40B4-BE49-F238E27FC236}">
                <a16:creationId xmlns:a16="http://schemas.microsoft.com/office/drawing/2014/main" id="{5F714AD8-2287-4C84-8059-5A044D58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39D7A18-241B-4C9F-9E3B-E66B92AD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386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3A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E3A3A"/>
                </a:solidFill>
                <a:latin typeface="Aptos"/>
                <a:ea typeface="Aptos"/>
                <a:cs typeface="Aptos"/>
              </a:rPr>
              <a:t>Shelf-by-shelf searching</a:t>
            </a:r>
          </a:p>
        </p:txBody>
      </p:sp>
      <p:sp>
        <p:nvSpPr>
          <p:cNvPr id="20" name="dot">
            <a:extLst xmlns:a="http://schemas.openxmlformats.org/drawingml/2006/main">
              <a:ext uri="{FF2B5EF4-FFF2-40B4-BE49-F238E27FC236}">
                <a16:creationId xmlns:a16="http://schemas.microsoft.com/office/drawing/2014/main" id="{78F06A42-AEE9-46EC-8BE7-AEF5F437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B115BC3-80F9-4F51-AA27-CC0083DA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291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3A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E3A3A"/>
                </a:solidFill>
                <a:latin typeface="Aptos"/>
                <a:ea typeface="Aptos"/>
                <a:cs typeface="Aptos"/>
              </a:rPr>
              <a:t>Delayed stock updates</a:t>
            </a:r>
          </a:p>
        </p:txBody>
      </p:sp>
      <p:sp>
        <p:nvSpPr>
          <p:cNvPr id="22" name="dot">
            <a:extLst xmlns:a="http://schemas.openxmlformats.org/drawingml/2006/main">
              <a:ext uri="{FF2B5EF4-FFF2-40B4-BE49-F238E27FC236}">
                <a16:creationId xmlns:a16="http://schemas.microsoft.com/office/drawing/2014/main" id="{512B207C-C743-418D-B949-8D121F26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9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4685C59-0B1D-49E3-89A7-3DE74B9C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197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3A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E3A3A"/>
                </a:solidFill>
                <a:latin typeface="Aptos"/>
                <a:ea typeface="Aptos"/>
                <a:cs typeface="Aptos"/>
              </a:rPr>
              <a:t>Dispensing error risk</a:t>
            </a:r>
          </a:p>
        </p:txBody>
      </p:sp>
      <p:sp>
        <p:nvSpPr>
          <p:cNvPr id="24" name="dot">
            <a:extLst xmlns:a="http://schemas.openxmlformats.org/drawingml/2006/main">
              <a:ext uri="{FF2B5EF4-FFF2-40B4-BE49-F238E27FC236}">
                <a16:creationId xmlns:a16="http://schemas.microsoft.com/office/drawing/2014/main" id="{E6111769-6EDA-4555-B683-64CC1509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EE2FDE7-6BBD-4BC6-94FC-E1A98154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AI-guided intake</a:t>
            </a:r>
          </a:p>
        </p:txBody>
      </p:sp>
      <p:sp>
        <p:nvSpPr>
          <p:cNvPr id="26" name="dot">
            <a:extLst xmlns:a="http://schemas.openxmlformats.org/drawingml/2006/main">
              <a:ext uri="{FF2B5EF4-FFF2-40B4-BE49-F238E27FC236}">
                <a16:creationId xmlns:a16="http://schemas.microsoft.com/office/drawing/2014/main" id="{885ACBB8-5C4F-4601-BFFE-8751E68E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81EF7AD-BCB4-4536-AAD1-5A80F454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480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Structured prescription records</a:t>
            </a:r>
          </a:p>
        </p:txBody>
      </p:sp>
      <p:sp>
        <p:nvSpPr>
          <p:cNvPr id="28" name="dot">
            <a:extLst xmlns:a="http://schemas.openxmlformats.org/drawingml/2006/main">
              <a:ext uri="{FF2B5EF4-FFF2-40B4-BE49-F238E27FC236}">
                <a16:creationId xmlns:a16="http://schemas.microsoft.com/office/drawing/2014/main" id="{CC147C23-8E10-4837-B881-4FC9A186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E45876E-9CA1-4F8A-9E2B-190FD428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386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Live inventory state</a:t>
            </a:r>
          </a:p>
        </p:txBody>
      </p:sp>
      <p:sp>
        <p:nvSpPr>
          <p:cNvPr id="30" name="dot">
            <a:extLst xmlns:a="http://schemas.openxmlformats.org/drawingml/2006/main">
              <a:ext uri="{FF2B5EF4-FFF2-40B4-BE49-F238E27FC236}">
                <a16:creationId xmlns:a16="http://schemas.microsoft.com/office/drawing/2014/main" id="{33CB337F-793E-4682-9129-E5D8ED73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701307CE-1F67-4722-B10B-EC93D9F0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291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Robot job queue</a:t>
            </a:r>
          </a:p>
        </p:txBody>
      </p:sp>
      <p:sp>
        <p:nvSpPr>
          <p:cNvPr id="32" name="dot">
            <a:extLst xmlns:a="http://schemas.openxmlformats.org/drawingml/2006/main">
              <a:ext uri="{FF2B5EF4-FFF2-40B4-BE49-F238E27FC236}">
                <a16:creationId xmlns:a16="http://schemas.microsoft.com/office/drawing/2014/main" id="{24519116-53E3-4F0C-B682-BEA6AF71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29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59341AE-6C35-4BFE-B664-6ABC3D02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197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Pharmacist confidence boost</a:t>
            </a:r>
          </a:p>
        </p:txBody>
      </p:sp>
      <p:sp>
        <p:nvSpPr>
          <p:cNvPr id="34" name="vs">
            <a:extLst xmlns:a="http://schemas.openxmlformats.org/drawingml/2006/main">
              <a:ext uri="{FF2B5EF4-FFF2-40B4-BE49-F238E27FC236}">
                <a16:creationId xmlns:a16="http://schemas.microsoft.com/office/drawing/2014/main" id="{4BD90E53-A53F-46FA-80A7-98D10F5C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10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9525">
            <a:solidFill>
              <a:srgbClr val="12314A"/>
            </a:solidFill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DED9D1C4-7D1A-4B42-983A-A71CBECB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971925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VS</a:t>
            </a:r>
          </a:p>
        </p:txBody>
      </p:sp>
      <p:sp>
        <p:nvSpPr>
          <p:cNvPr id="36" name="shape">
            <a:extLst xmlns:a="http://schemas.openxmlformats.org/drawingml/2006/main">
              <a:ext uri="{FF2B5EF4-FFF2-40B4-BE49-F238E27FC236}">
                <a16:creationId xmlns:a16="http://schemas.microsoft.com/office/drawing/2014/main" id="{C8A2A46B-B731-4620-8E11-89058592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648325"/>
            <a:ext cx="43338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DADA"/>
          </a:solidFill>
          <a:ln xmlns:a="http://schemas.openxmlformats.org/drawingml/2006/main" w="9525">
            <a:solidFill>
              <a:srgbClr val="FFDADA"/>
            </a:solidFill>
          </a:ln>
        </p:spPr>
      </p:sp>
      <p:sp>
        <p:nvSpPr>
          <p:cNvPr id="37" name="shape">
            <a:extLst xmlns:a="http://schemas.openxmlformats.org/drawingml/2006/main">
              <a:ext uri="{FF2B5EF4-FFF2-40B4-BE49-F238E27FC236}">
                <a16:creationId xmlns:a16="http://schemas.microsoft.com/office/drawing/2014/main" id="{0E9ABDC4-4C4D-450F-882B-6185FC3F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48325"/>
            <a:ext cx="43338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DDF3FF"/>
            </a:solidFill>
          </a:ln>
        </p:spPr>
      </p:sp>
    </p:spTree>
    <p:extLst>
      <p:ext uri="{BB962C8B-B14F-4D97-AF65-F5344CB8AC3E}">
        <p14:creationId xmlns:p14="http://schemas.microsoft.com/office/powerpoint/2010/main" val="5996031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558A668-9383-4EDA-B13E-E10F457A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wash">
            <a:extLst xmlns:a="http://schemas.openxmlformats.org/drawingml/2006/main">
              <a:ext uri="{FF2B5EF4-FFF2-40B4-BE49-F238E27FC236}">
                <a16:creationId xmlns:a16="http://schemas.microsoft.com/office/drawing/2014/main" id="{EC4B6061-2815-45A1-82C0-2CB622C3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EEF9FF"/>
            </a:solidFill>
          </a:ln>
        </p:spPr>
      </p:sp>
      <p:sp>
        <p:nvSpPr>
          <p:cNvPr id="3" name="top-band">
            <a:extLst xmlns:a="http://schemas.openxmlformats.org/drawingml/2006/main">
              <a:ext uri="{FF2B5EF4-FFF2-40B4-BE49-F238E27FC236}">
                <a16:creationId xmlns:a16="http://schemas.microsoft.com/office/drawing/2014/main" id="{F9C12772-3FE7-4234-9546-51A2E5E5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bottom-band">
            <a:extLst xmlns:a="http://schemas.openxmlformats.org/drawingml/2006/main">
              <a:ext uri="{FF2B5EF4-FFF2-40B4-BE49-F238E27FC236}">
                <a16:creationId xmlns:a16="http://schemas.microsoft.com/office/drawing/2014/main" id="{83084B9E-2491-415C-92AF-6B7BB3AB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8670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26D7DB-3C4A-41C3-9EE2-933AD227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APMS Graduation Project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380CBD8-A331-43D9-8E74-F6A955C3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8096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AI + Software + Hardware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76706C3-CD9D-4BBC-B581-EC651E54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184"/>
                </a:solidFill>
                <a:latin typeface="Aptos"/>
                <a:ea typeface="Aptos"/>
                <a:cs typeface="Aptos"/>
              </a:rPr>
              <a:t>SLIDE 3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2F8EB63-C385-4BBD-8DAA-864F8CBD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The Problem: Survey Signals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CA9D0F2-E7F9-48F4-B7ED-E41C7312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Pain appears before architecture</a:t>
            </a:r>
          </a:p>
        </p:txBody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7EF10934-4F0C-4FD0-91F4-BE223F32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6572250" cy="5381625"/>
          </a:xfrm>
          <a:prstGeom xmlns:a="http://schemas.openxmlformats.org/drawingml/2006/main" prst="roundRect">
            <a:avLst>
              <a:gd name="adj" fmla="val 14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939D7FF3-E347-42AC-9346-63F34C36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19250"/>
            <a:ext cx="6572250" cy="5381625"/>
          </a:xfrm>
          <a:prstGeom xmlns:a="http://schemas.openxmlformats.org/drawingml/2006/main" prst="roundRect">
            <a:avLst>
              <a:gd name="adj" fmla="val 14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69511C3-4010-4771-99D6-3F57A6D7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431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Main Barriers in Pharmacies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542bbe1dd4a5e">
            <a:extLst>
              <a:ext uri="{96DAC541-7B7A-43D3-8B79-37D633B846F1}">
                <asvg:svgBlip xmlns:asvg="http://schemas.microsoft.com/office/drawing/2016/SVG/main" r:embed="Rd8e831ecc1094a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14575" y="2571750"/>
            <a:ext cx="1905000" cy="1905000"/>
          </a:xfrm>
          <a:prstGeom xmlns:a="http://schemas.openxmlformats.org/drawingml/2006/main" prst="rect">
            <a:avLst/>
          </a:prstGeom>
        </p:spPr>
      </p:pic>
      <p:sp>
        <p:nvSpPr>
          <p:cNvPr id="14" name="legend">
            <a:extLst xmlns:a="http://schemas.openxmlformats.org/drawingml/2006/main">
              <a:ext uri="{FF2B5EF4-FFF2-40B4-BE49-F238E27FC236}">
                <a16:creationId xmlns:a16="http://schemas.microsoft.com/office/drawing/2014/main" id="{C1FB791C-4053-4951-9FDC-4F0C00D3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714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CB85D06-CF48-4C52-8162-593DE020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6672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C2A39"/>
                </a:solidFill>
                <a:latin typeface="Aptos"/>
                <a:ea typeface="Aptos"/>
                <a:cs typeface="Aptos"/>
              </a:rPr>
              <a:t>52% Long waits</a:t>
            </a:r>
          </a:p>
        </p:txBody>
      </p:sp>
      <p:sp>
        <p:nvSpPr>
          <p:cNvPr id="16" name="legend">
            <a:extLst xmlns:a="http://schemas.openxmlformats.org/drawingml/2006/main">
              <a:ext uri="{FF2B5EF4-FFF2-40B4-BE49-F238E27FC236}">
                <a16:creationId xmlns:a16="http://schemas.microsoft.com/office/drawing/2014/main" id="{32CEB711-756D-45E4-A346-DB08214D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981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B37A"/>
          </a:solidFill>
          <a:ln xmlns:a="http://schemas.openxmlformats.org/drawingml/2006/main" w="9525">
            <a:solidFill>
              <a:srgbClr val="3AB37A"/>
            </a:solidFill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0631A74-4F4E-42D1-8DC7-0E848057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9339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C2A39"/>
                </a:solidFill>
                <a:latin typeface="Aptos"/>
                <a:ea typeface="Aptos"/>
                <a:cs typeface="Aptos"/>
              </a:rPr>
              <a:t>30% Inventory errors</a:t>
            </a:r>
          </a:p>
        </p:txBody>
      </p:sp>
      <p:sp>
        <p:nvSpPr>
          <p:cNvPr id="18" name="legend">
            <a:extLst xmlns:a="http://schemas.openxmlformats.org/drawingml/2006/main">
              <a:ext uri="{FF2B5EF4-FFF2-40B4-BE49-F238E27FC236}">
                <a16:creationId xmlns:a16="http://schemas.microsoft.com/office/drawing/2014/main" id="{6EF121B6-2A6E-4210-91C9-3C00D49E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248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6A"/>
          </a:solidFill>
          <a:ln xmlns:a="http://schemas.openxmlformats.org/drawingml/2006/main" w="9525">
            <a:solidFill>
              <a:srgbClr val="FFD36A"/>
            </a:solidFill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A1B4CFA-2CFB-4C1E-9078-B5D5E702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2006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C2A39"/>
                </a:solidFill>
                <a:latin typeface="Aptos"/>
                <a:ea typeface="Aptos"/>
                <a:cs typeface="Aptos"/>
              </a:rPr>
              <a:t>18% Manual workload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6645A9A-031E-4048-B0BC-139D61D2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431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Trust in AI Dispensing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cba2e86df49c1">
            <a:extLst>
              <a:ext uri="{96DAC541-7B7A-43D3-8B79-37D633B846F1}">
                <asvg:svgBlip xmlns:asvg="http://schemas.microsoft.com/office/drawing/2016/SVG/main" r:embed="Rf31428c9db894f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10700" y="2571750"/>
            <a:ext cx="1905000" cy="1905000"/>
          </a:xfrm>
          <a:prstGeom xmlns:a="http://schemas.openxmlformats.org/drawingml/2006/main" prst="rect">
            <a:avLst/>
          </a:prstGeom>
        </p:spPr>
      </p:pic>
      <p:sp>
        <p:nvSpPr>
          <p:cNvPr id="22" name="legend">
            <a:extLst xmlns:a="http://schemas.openxmlformats.org/drawingml/2006/main">
              <a:ext uri="{FF2B5EF4-FFF2-40B4-BE49-F238E27FC236}">
                <a16:creationId xmlns:a16="http://schemas.microsoft.com/office/drawing/2014/main" id="{3111D40C-1887-418D-A785-865470F2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14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3BF2AF7-E931-418B-9E65-AD476312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672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C2A39"/>
                </a:solidFill>
                <a:latin typeface="Aptos"/>
                <a:ea typeface="Aptos"/>
                <a:cs typeface="Aptos"/>
              </a:rPr>
              <a:t>70% Willing to use</a:t>
            </a:r>
          </a:p>
        </p:txBody>
      </p:sp>
      <p:sp>
        <p:nvSpPr>
          <p:cNvPr id="24" name="legend">
            <a:extLst xmlns:a="http://schemas.openxmlformats.org/drawingml/2006/main">
              <a:ext uri="{FF2B5EF4-FFF2-40B4-BE49-F238E27FC236}">
                <a16:creationId xmlns:a16="http://schemas.microsoft.com/office/drawing/2014/main" id="{A3DD3488-1318-472B-8593-91ED4F13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981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B37A"/>
          </a:solidFill>
          <a:ln xmlns:a="http://schemas.openxmlformats.org/drawingml/2006/main" w="9525">
            <a:solidFill>
              <a:srgbClr val="3AB37A"/>
            </a:solidFill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4D91B4B-F7F7-47E2-B271-5751F6E9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9339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C2A39"/>
                </a:solidFill>
                <a:latin typeface="Aptos"/>
                <a:ea typeface="Aptos"/>
                <a:cs typeface="Aptos"/>
              </a:rPr>
              <a:t>20% Need pharmacist review</a:t>
            </a:r>
          </a:p>
        </p:txBody>
      </p:sp>
      <p:sp>
        <p:nvSpPr>
          <p:cNvPr id="26" name="legend">
            <a:extLst xmlns:a="http://schemas.openxmlformats.org/drawingml/2006/main">
              <a:ext uri="{FF2B5EF4-FFF2-40B4-BE49-F238E27FC236}">
                <a16:creationId xmlns:a16="http://schemas.microsoft.com/office/drawing/2014/main" id="{8BDCC3F7-8752-4AFE-95D5-834ED909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48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6A"/>
          </a:solidFill>
          <a:ln xmlns:a="http://schemas.openxmlformats.org/drawingml/2006/main" w="9525">
            <a:solidFill>
              <a:srgbClr val="FFD36A"/>
            </a:solidFill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A9CCB6F-BBEE-4A46-9D67-C8BB7663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006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C2A39"/>
                </a:solidFill>
                <a:latin typeface="Aptos"/>
                <a:ea typeface="Aptos"/>
                <a:cs typeface="Aptos"/>
              </a:rPr>
              <a:t>10% Not ready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5CA754F-2EB1-49E8-A7DB-4D04F379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1912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Presentation survey inputs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F8B11ED-A8C5-442F-99C0-36AC1337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1912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Presentation survey inputs</a:t>
            </a:r>
          </a:p>
        </p:txBody>
      </p:sp>
      <p:sp>
        <p:nvSpPr>
          <p:cNvPr id="30" name="dot">
            <a:extLst xmlns:a="http://schemas.openxmlformats.org/drawingml/2006/main">
              <a:ext uri="{FF2B5EF4-FFF2-40B4-BE49-F238E27FC236}">
                <a16:creationId xmlns:a16="http://schemas.microsoft.com/office/drawing/2014/main" id="{20443A01-FFE7-4B2B-8B8B-FA6134B3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93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DD769BD-3410-4C50-8249-0134A657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68580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Fragmented operational systems</a:t>
            </a:r>
          </a:p>
        </p:txBody>
      </p:sp>
      <p:sp>
        <p:nvSpPr>
          <p:cNvPr id="32" name="dot">
            <a:extLst xmlns:a="http://schemas.openxmlformats.org/drawingml/2006/main">
              <a:ext uri="{FF2B5EF4-FFF2-40B4-BE49-F238E27FC236}">
                <a16:creationId xmlns:a16="http://schemas.microsoft.com/office/drawing/2014/main" id="{A7E14E26-D288-4AEB-B6E0-3A75B761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93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FA6978EF-0E86-4D81-AEB6-AAECD8BB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8580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Inventory control loss</a:t>
            </a:r>
          </a:p>
        </p:txBody>
      </p:sp>
      <p:sp>
        <p:nvSpPr>
          <p:cNvPr id="34" name="dot">
            <a:extLst xmlns:a="http://schemas.openxmlformats.org/drawingml/2006/main">
              <a:ext uri="{FF2B5EF4-FFF2-40B4-BE49-F238E27FC236}">
                <a16:creationId xmlns:a16="http://schemas.microsoft.com/office/drawing/2014/main" id="{95779F4B-E493-4EF0-A869-FD30652D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3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AABCD4A5-C0C6-43A6-ADC2-D38972B3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8580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Simple controls desired</a:t>
            </a:r>
          </a:p>
        </p:txBody>
      </p:sp>
    </p:spTree>
    <p:extLst>
      <p:ext uri="{BB962C8B-B14F-4D97-AF65-F5344CB8AC3E}">
        <p14:creationId xmlns:p14="http://schemas.microsoft.com/office/powerpoint/2010/main" val="329434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71C6348-D8F2-4A9C-9E8B-8F33E763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wash">
            <a:extLst xmlns:a="http://schemas.openxmlformats.org/drawingml/2006/main">
              <a:ext uri="{FF2B5EF4-FFF2-40B4-BE49-F238E27FC236}">
                <a16:creationId xmlns:a16="http://schemas.microsoft.com/office/drawing/2014/main" id="{A3E87ED4-BD9C-4CD4-BCCD-2434BD45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EEF9FF"/>
            </a:solidFill>
          </a:ln>
        </p:spPr>
      </p:sp>
      <p:sp>
        <p:nvSpPr>
          <p:cNvPr id="3" name="top-band">
            <a:extLst xmlns:a="http://schemas.openxmlformats.org/drawingml/2006/main">
              <a:ext uri="{FF2B5EF4-FFF2-40B4-BE49-F238E27FC236}">
                <a16:creationId xmlns:a16="http://schemas.microsoft.com/office/drawing/2014/main" id="{ED0D30A4-8A68-4BFA-B587-A3E141EB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bottom-band">
            <a:extLst xmlns:a="http://schemas.openxmlformats.org/drawingml/2006/main">
              <a:ext uri="{FF2B5EF4-FFF2-40B4-BE49-F238E27FC236}">
                <a16:creationId xmlns:a16="http://schemas.microsoft.com/office/drawing/2014/main" id="{E4827B4F-7021-4BB6-AF7C-8DD2BCC8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8670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16E138B-C486-4596-8EBE-B2602675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APMS Graduation Project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2F2E38D-F6C1-45D0-AE25-8BAE6EA7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8096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AI + Software + Hardware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52CD49-9A46-4D06-9B96-E74685F0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184"/>
                </a:solidFill>
                <a:latin typeface="Aptos"/>
                <a:ea typeface="Aptos"/>
                <a:cs typeface="Aptos"/>
              </a:rPr>
              <a:t>SLIDE 4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3980813-4B36-4F8C-88CB-C0B300FD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Feature Matrix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AC8C223-DD0C-40AD-8937-0AAEC054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The market gap becomes visible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467DB6AC-50C7-4B5C-9462-E829D2CB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34874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5B79BD2C-CFAB-4BE9-9266-781CC657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4F7B672-C690-4510-A921-AC94B921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97D813CA-B6D2-45F2-BE15-D10416F9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33CF99D-3CFD-4DC9-ADCB-C56EDB0F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299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Traditional POS</a:t>
            </a:r>
          </a:p>
        </p:txBody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787D5283-8914-4BAE-8DAD-F4374195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180386C-CD60-4EDB-A7F4-4C7538F4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299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E-Pharmacies</a:t>
            </a:r>
          </a:p>
        </p:txBody>
      </p: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0A0D111C-70A2-4C22-8191-FC08D85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809750"/>
            <a:ext cx="3486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D043974-9224-4ED1-A1DC-0F890008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APMS</a:t>
            </a:r>
          </a:p>
        </p:txBody>
      </p:sp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7FD33BE8-4FC4-47A6-AB4B-EF917064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0CA833A-24D7-478C-B38F-6301679B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Real-time AI chatbot</a:t>
            </a:r>
          </a:p>
        </p:txBody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AD5B137E-6726-4888-89FB-C6EB59B5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5CF506E-D494-4DA2-99D6-1611F215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9080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6F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86F6F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3" name="shape">
            <a:extLst xmlns:a="http://schemas.openxmlformats.org/drawingml/2006/main">
              <a:ext uri="{FF2B5EF4-FFF2-40B4-BE49-F238E27FC236}">
                <a16:creationId xmlns:a16="http://schemas.microsoft.com/office/drawing/2014/main" id="{A396A35E-D467-4744-B8EB-7F6572F7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003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B792F5B-8299-480C-90FA-D5284946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9080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D7184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25" name="shape">
            <a:extLst xmlns:a="http://schemas.openxmlformats.org/drawingml/2006/main">
              <a:ext uri="{FF2B5EF4-FFF2-40B4-BE49-F238E27FC236}">
                <a16:creationId xmlns:a16="http://schemas.microsoft.com/office/drawing/2014/main" id="{3DBA1CA7-8127-4998-AAB1-013ECCF9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400300"/>
            <a:ext cx="3486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84D2EFE-1B84-47DF-8956-488CDFB2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908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AB3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AB37A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7" name="shape">
            <a:extLst xmlns:a="http://schemas.openxmlformats.org/drawingml/2006/main">
              <a:ext uri="{FF2B5EF4-FFF2-40B4-BE49-F238E27FC236}">
                <a16:creationId xmlns:a16="http://schemas.microsoft.com/office/drawing/2014/main" id="{9A1EDD02-C27C-48F4-8CA1-BDB3E9C8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30DA9EE-E4BE-4BED-AF3A-793083BC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Physical robotic dispensing</a:t>
            </a:r>
          </a:p>
        </p:txBody>
      </p:sp>
      <p:sp>
        <p:nvSpPr>
          <p:cNvPr id="29" name="shape">
            <a:extLst xmlns:a="http://schemas.openxmlformats.org/drawingml/2006/main">
              <a:ext uri="{FF2B5EF4-FFF2-40B4-BE49-F238E27FC236}">
                <a16:creationId xmlns:a16="http://schemas.microsoft.com/office/drawing/2014/main" id="{A514E9E7-4A99-491D-BDCD-022D3564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670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B694CBF-DC71-4484-8EDE-1CC06D5F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6F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86F6F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31" name="shape">
            <a:extLst xmlns:a="http://schemas.openxmlformats.org/drawingml/2006/main">
              <a:ext uri="{FF2B5EF4-FFF2-40B4-BE49-F238E27FC236}">
                <a16:creationId xmlns:a16="http://schemas.microsoft.com/office/drawing/2014/main" id="{D43FD223-553C-44E6-B9CC-C2E837A5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670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C7790DA-F842-4D43-A0AC-D5FA3A0E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6F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86F6F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33" name="shape">
            <a:extLst xmlns:a="http://schemas.openxmlformats.org/drawingml/2006/main">
              <a:ext uri="{FF2B5EF4-FFF2-40B4-BE49-F238E27FC236}">
                <a16:creationId xmlns:a16="http://schemas.microsoft.com/office/drawing/2014/main" id="{545FC1E8-6CB6-464A-B5A9-60AC78DF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067050"/>
            <a:ext cx="3486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5E783125-FAD5-483E-8455-0A146218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575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AB3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AB37A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5" name="shape">
            <a:extLst xmlns:a="http://schemas.openxmlformats.org/drawingml/2006/main">
              <a:ext uri="{FF2B5EF4-FFF2-40B4-BE49-F238E27FC236}">
                <a16:creationId xmlns:a16="http://schemas.microsoft.com/office/drawing/2014/main" id="{593A5F08-9E48-4C66-9DFB-5CDA26A0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F39B451C-1AF1-4EAB-99DD-6E9FAF3C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Automated DB synchronization</a:t>
            </a:r>
          </a:p>
        </p:txBody>
      </p:sp>
      <p:sp>
        <p:nvSpPr>
          <p:cNvPr id="37" name="shape">
            <a:extLst xmlns:a="http://schemas.openxmlformats.org/drawingml/2006/main">
              <a:ext uri="{FF2B5EF4-FFF2-40B4-BE49-F238E27FC236}">
                <a16:creationId xmlns:a16="http://schemas.microsoft.com/office/drawing/2014/main" id="{F2A82491-4319-4F83-85E9-0A33D5FA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338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4F5A8F80-3BBD-48F9-A259-1F628CE0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2430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D7184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39" name="shape">
            <a:extLst xmlns:a="http://schemas.openxmlformats.org/drawingml/2006/main">
              <a:ext uri="{FF2B5EF4-FFF2-40B4-BE49-F238E27FC236}">
                <a16:creationId xmlns:a16="http://schemas.microsoft.com/office/drawing/2014/main" id="{BA61ED8E-62D0-4EE8-91EC-3C85D14C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338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93DCA682-C34D-42C2-BBF6-F685376A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2430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D7184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41" name="shape">
            <a:extLst xmlns:a="http://schemas.openxmlformats.org/drawingml/2006/main">
              <a:ext uri="{FF2B5EF4-FFF2-40B4-BE49-F238E27FC236}">
                <a16:creationId xmlns:a16="http://schemas.microsoft.com/office/drawing/2014/main" id="{4282CD56-3BCF-4773-A286-5A606A70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733800"/>
            <a:ext cx="3486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3C820AA0-DFC5-4E12-A9AB-5FB6C04A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9243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AB3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AB37A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43" name="shape">
            <a:extLst xmlns:a="http://schemas.openxmlformats.org/drawingml/2006/main">
              <a:ext uri="{FF2B5EF4-FFF2-40B4-BE49-F238E27FC236}">
                <a16:creationId xmlns:a16="http://schemas.microsoft.com/office/drawing/2014/main" id="{9614FCEC-18BB-46A2-931B-0921AAFC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EE627C4A-7AFC-4FE0-91CF-B71ABBF7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Prescription OCR pipeline</a:t>
            </a:r>
          </a:p>
        </p:txBody>
      </p:sp>
      <p:sp>
        <p:nvSpPr>
          <p:cNvPr id="45" name="shape">
            <a:extLst xmlns:a="http://schemas.openxmlformats.org/drawingml/2006/main">
              <a:ext uri="{FF2B5EF4-FFF2-40B4-BE49-F238E27FC236}">
                <a16:creationId xmlns:a16="http://schemas.microsoft.com/office/drawing/2014/main" id="{1528F26A-4522-4E6F-97F4-7A75FB89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005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27641C95-2365-4E3E-975D-8710A561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910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6F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86F6F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47" name="shape">
            <a:extLst xmlns:a="http://schemas.openxmlformats.org/drawingml/2006/main">
              <a:ext uri="{FF2B5EF4-FFF2-40B4-BE49-F238E27FC236}">
                <a16:creationId xmlns:a16="http://schemas.microsoft.com/office/drawing/2014/main" id="{3E679F74-E37B-471D-B961-7CE56F24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005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20902C43-6BAC-4D2F-B6E0-E9E3AC70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910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D7184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49" name="shape">
            <a:extLst xmlns:a="http://schemas.openxmlformats.org/drawingml/2006/main">
              <a:ext uri="{FF2B5EF4-FFF2-40B4-BE49-F238E27FC236}">
                <a16:creationId xmlns:a16="http://schemas.microsoft.com/office/drawing/2014/main" id="{6706535E-5BEA-4F24-A5CF-17C319CF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400550"/>
            <a:ext cx="3486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1271EB0D-CB0A-46B4-9A54-5776A74B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910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AB3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AB37A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51" name="shape">
            <a:extLst xmlns:a="http://schemas.openxmlformats.org/drawingml/2006/main">
              <a:ext uri="{FF2B5EF4-FFF2-40B4-BE49-F238E27FC236}">
                <a16:creationId xmlns:a16="http://schemas.microsoft.com/office/drawing/2014/main" id="{5CD70D02-F629-4138-A46B-37FA0856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6AD1383D-7A73-42B2-991E-28DE507B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Live hardware job queue</a:t>
            </a:r>
          </a:p>
        </p:txBody>
      </p:sp>
      <p:sp>
        <p:nvSpPr>
          <p:cNvPr id="53" name="shape">
            <a:extLst xmlns:a="http://schemas.openxmlformats.org/drawingml/2006/main">
              <a:ext uri="{FF2B5EF4-FFF2-40B4-BE49-F238E27FC236}">
                <a16:creationId xmlns:a16="http://schemas.microsoft.com/office/drawing/2014/main" id="{F88E7D73-B365-4390-84F0-0E2B66AE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673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2A5B27F3-AB08-4E23-9E2B-430A3721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5780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6F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86F6F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55" name="shape">
            <a:extLst xmlns:a="http://schemas.openxmlformats.org/drawingml/2006/main">
              <a:ext uri="{FF2B5EF4-FFF2-40B4-BE49-F238E27FC236}">
                <a16:creationId xmlns:a16="http://schemas.microsoft.com/office/drawing/2014/main" id="{E60F0A61-4E3B-4047-9AFD-AC1A9987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673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FE8E8FC8-B8F7-4D5E-8848-D62768E3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5780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6F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86F6F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57" name="shape">
            <a:extLst xmlns:a="http://schemas.openxmlformats.org/drawingml/2006/main">
              <a:ext uri="{FF2B5EF4-FFF2-40B4-BE49-F238E27FC236}">
                <a16:creationId xmlns:a16="http://schemas.microsoft.com/office/drawing/2014/main" id="{3AE75775-9DA1-41CC-B963-CEA3BA5A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067300"/>
            <a:ext cx="3486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31B03D2A-2BC0-4606-86F4-190E47DA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2578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AB3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AB37A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59" name="shape">
            <a:extLst xmlns:a="http://schemas.openxmlformats.org/drawingml/2006/main">
              <a:ext uri="{FF2B5EF4-FFF2-40B4-BE49-F238E27FC236}">
                <a16:creationId xmlns:a16="http://schemas.microsoft.com/office/drawing/2014/main" id="{6E91548C-D36D-4090-86C6-868E68BC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60" name="text">
            <a:extLst xmlns:a="http://schemas.openxmlformats.org/drawingml/2006/main">
              <a:ext uri="{FF2B5EF4-FFF2-40B4-BE49-F238E27FC236}">
                <a16:creationId xmlns:a16="http://schemas.microsoft.com/office/drawing/2014/main" id="{AF69EA6D-E305-405B-A879-8A985317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Zero-friction pharmacist HCI</a:t>
            </a:r>
          </a:p>
        </p:txBody>
      </p:sp>
      <p:sp>
        <p:nvSpPr>
          <p:cNvPr id="61" name="shape">
            <a:extLst xmlns:a="http://schemas.openxmlformats.org/drawingml/2006/main">
              <a:ext uri="{FF2B5EF4-FFF2-40B4-BE49-F238E27FC236}">
                <a16:creationId xmlns:a16="http://schemas.microsoft.com/office/drawing/2014/main" id="{7F12C49A-146E-425A-B17E-C7B63D7C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7340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D2B8B4F2-4E3F-4EFC-978F-36B21ED7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245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D7184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63" name="shape">
            <a:extLst xmlns:a="http://schemas.openxmlformats.org/drawingml/2006/main">
              <a:ext uri="{FF2B5EF4-FFF2-40B4-BE49-F238E27FC236}">
                <a16:creationId xmlns:a16="http://schemas.microsoft.com/office/drawing/2014/main" id="{282F981A-5270-4B0F-B925-0008DAA1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7340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64" name="text">
            <a:extLst xmlns:a="http://schemas.openxmlformats.org/drawingml/2006/main">
              <a:ext uri="{FF2B5EF4-FFF2-40B4-BE49-F238E27FC236}">
                <a16:creationId xmlns:a16="http://schemas.microsoft.com/office/drawing/2014/main" id="{9837CC1C-BBAA-4EB9-BD57-50465A4F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245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D7184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65" name="shape">
            <a:extLst xmlns:a="http://schemas.openxmlformats.org/drawingml/2006/main">
              <a:ext uri="{FF2B5EF4-FFF2-40B4-BE49-F238E27FC236}">
                <a16:creationId xmlns:a16="http://schemas.microsoft.com/office/drawing/2014/main" id="{87C92B07-D470-4078-9529-1923C6FD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734050"/>
            <a:ext cx="3486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66" name="text">
            <a:extLst xmlns:a="http://schemas.openxmlformats.org/drawingml/2006/main">
              <a:ext uri="{FF2B5EF4-FFF2-40B4-BE49-F238E27FC236}">
                <a16:creationId xmlns:a16="http://schemas.microsoft.com/office/drawing/2014/main" id="{F7B90BA4-F277-4904-AFD6-C4CEF39B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9245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AB3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AB37A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CA9097A2-FF2C-41A9-8F17-526781F0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162800"/>
            <a:ext cx="1190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APMS owns the full chain: input, intelligence, inventory, dispensing.</a:t>
            </a:r>
          </a:p>
        </p:txBody>
      </p:sp>
    </p:spTree>
    <p:extLst>
      <p:ext uri="{BB962C8B-B14F-4D97-AF65-F5344CB8AC3E}">
        <p14:creationId xmlns:p14="http://schemas.microsoft.com/office/powerpoint/2010/main" val="17696457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379FF73-792B-48E0-BE0B-4DB58E36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wash">
            <a:extLst xmlns:a="http://schemas.openxmlformats.org/drawingml/2006/main">
              <a:ext uri="{FF2B5EF4-FFF2-40B4-BE49-F238E27FC236}">
                <a16:creationId xmlns:a16="http://schemas.microsoft.com/office/drawing/2014/main" id="{6A3ADC5E-59A0-4844-83A1-0137D559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EEF9FF"/>
            </a:solidFill>
          </a:ln>
        </p:spPr>
      </p:sp>
      <p:sp>
        <p:nvSpPr>
          <p:cNvPr id="3" name="top-band">
            <a:extLst xmlns:a="http://schemas.openxmlformats.org/drawingml/2006/main">
              <a:ext uri="{FF2B5EF4-FFF2-40B4-BE49-F238E27FC236}">
                <a16:creationId xmlns:a16="http://schemas.microsoft.com/office/drawing/2014/main" id="{484A28C9-5005-49B9-8E35-E859D353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bottom-band">
            <a:extLst xmlns:a="http://schemas.openxmlformats.org/drawingml/2006/main">
              <a:ext uri="{FF2B5EF4-FFF2-40B4-BE49-F238E27FC236}">
                <a16:creationId xmlns:a16="http://schemas.microsoft.com/office/drawing/2014/main" id="{21292B09-091A-4196-994E-A15389FE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8670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A72788-CDC8-42E9-97E1-B549ED50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APMS Graduation Project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F8BE8EF-E2CF-43C3-A67E-8FA97DE6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8096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AI + Software + Hardware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DDB8C34-C68C-42F8-9FE6-DC9965C5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184"/>
                </a:solidFill>
                <a:latin typeface="Aptos"/>
                <a:ea typeface="Aptos"/>
                <a:cs typeface="Aptos"/>
              </a:rPr>
              <a:t>SLIDE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6875FBB-F435-48E8-94D6-2C7338D8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The Gap &amp; Proposed Solution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83A5A36-E01A-4467-A60A-855FAEE0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The hero enters as integration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82FC3142-D72D-41BC-AD3F-A1C19DD6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47900"/>
            <a:ext cx="4476750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A"/>
            </a:solidFill>
          </a:ln>
        </p:spPr>
      </p:sp>
      <p:sp>
        <p:nvSpPr>
          <p:cNvPr id="11" name="arrow">
            <a:extLst xmlns:a="http://schemas.openxmlformats.org/drawingml/2006/main">
              <a:ext uri="{FF2B5EF4-FFF2-40B4-BE49-F238E27FC236}">
                <a16:creationId xmlns:a16="http://schemas.microsoft.com/office/drawing/2014/main" id="{2BD24452-3604-4445-9C31-4EE4E48A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85950"/>
            <a:ext cx="-142875" cy="19716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A"/>
            </a:solidFill>
          </a:ln>
        </p:spPr>
      </p:sp>
      <p:sp>
        <p:nvSpPr>
          <p:cNvPr id="12" name="arrow">
            <a:extLst xmlns:a="http://schemas.openxmlformats.org/drawingml/2006/main">
              <a:ext uri="{FF2B5EF4-FFF2-40B4-BE49-F238E27FC236}">
                <a16:creationId xmlns:a16="http://schemas.microsoft.com/office/drawing/2014/main" id="{64D0BABF-2D23-4D07-9790-A9E4E757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247900"/>
            <a:ext cx="-46196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A"/>
            </a:solidFill>
          </a:ln>
        </p:spPr>
      </p:sp>
      <p:sp>
        <p:nvSpPr>
          <p:cNvPr id="13" name="arrow">
            <a:extLst xmlns:a="http://schemas.openxmlformats.org/drawingml/2006/main">
              <a:ext uri="{FF2B5EF4-FFF2-40B4-BE49-F238E27FC236}">
                <a16:creationId xmlns:a16="http://schemas.microsoft.com/office/drawing/2014/main" id="{9FA40782-3250-4F67-818D-702F6BCD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267450"/>
            <a:ext cx="4191000" cy="-24098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A"/>
            </a:solidFill>
          </a:ln>
        </p:spPr>
      </p:sp>
      <p:sp>
        <p:nvSpPr>
          <p:cNvPr id="14" name="arrow">
            <a:extLst xmlns:a="http://schemas.openxmlformats.org/drawingml/2006/main">
              <a:ext uri="{FF2B5EF4-FFF2-40B4-BE49-F238E27FC236}">
                <a16:creationId xmlns:a16="http://schemas.microsoft.com/office/drawing/2014/main" id="{36D8439B-D84A-40E3-BCD7-EE08E603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48450"/>
            <a:ext cx="-142875" cy="-27908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A"/>
            </a:solidFill>
          </a:ln>
        </p:spPr>
      </p:sp>
      <p:sp>
        <p:nvSpPr>
          <p:cNvPr id="15" name="arrow">
            <a:extLst xmlns:a="http://schemas.openxmlformats.org/drawingml/2006/main">
              <a:ext uri="{FF2B5EF4-FFF2-40B4-BE49-F238E27FC236}">
                <a16:creationId xmlns:a16="http://schemas.microsoft.com/office/drawing/2014/main" id="{B248070F-5430-44B2-9068-1801D92C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6267450"/>
            <a:ext cx="-4238625" cy="-24098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A"/>
            </a:solidFill>
          </a:ln>
        </p:spPr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39826DEA-EEE4-470E-8B73-B893B15E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48000"/>
            <a:ext cx="3810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314A"/>
          </a:solidFill>
          <a:ln xmlns:a="http://schemas.openxmlformats.org/drawingml/2006/main" w="9525">
            <a:solidFill>
              <a:srgbClr val="12314A"/>
            </a:solidFill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F4E2027-67D1-47CC-9B56-3A570445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304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APMS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Solution Hub</a:t>
            </a:r>
          </a:p>
        </p:txBody>
      </p:sp>
      <p:sp>
        <p:nvSpPr>
          <p:cNvPr id="18" name="node">
            <a:extLst xmlns:a="http://schemas.openxmlformats.org/drawingml/2006/main">
              <a:ext uri="{FF2B5EF4-FFF2-40B4-BE49-F238E27FC236}">
                <a16:creationId xmlns:a16="http://schemas.microsoft.com/office/drawing/2014/main" id="{5AE54380-C57E-466A-B8C8-CDAED6C0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90700"/>
            <a:ext cx="228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B09DCA4-2D46-44F3-A0ED-4D8D922F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914525"/>
            <a:ext cx="2019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User-Centric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20" name="node">
            <a:extLst xmlns:a="http://schemas.openxmlformats.org/drawingml/2006/main">
              <a:ext uri="{FF2B5EF4-FFF2-40B4-BE49-F238E27FC236}">
                <a16:creationId xmlns:a16="http://schemas.microsoft.com/office/drawing/2014/main" id="{91211D1F-CD6E-40DD-BB57-14BA1766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28750"/>
            <a:ext cx="228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7D7A4FE-2560-421E-AC0F-8B64B346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552575"/>
            <a:ext cx="2019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DB / AI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Bridge</a:t>
            </a:r>
          </a:p>
        </p:txBody>
      </p:sp>
      <p:sp>
        <p:nvSpPr>
          <p:cNvPr id="22" name="node">
            <a:extLst xmlns:a="http://schemas.openxmlformats.org/drawingml/2006/main">
              <a:ext uri="{FF2B5EF4-FFF2-40B4-BE49-F238E27FC236}">
                <a16:creationId xmlns:a16="http://schemas.microsoft.com/office/drawing/2014/main" id="{E9A302EC-B4FB-4596-95FB-C0E91707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1790700"/>
            <a:ext cx="228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F48E8CD-DD32-46F2-BB58-78F1FC38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1914525"/>
            <a:ext cx="2019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Hardware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24" name="node">
            <a:extLst xmlns:a="http://schemas.openxmlformats.org/drawingml/2006/main">
              <a:ext uri="{FF2B5EF4-FFF2-40B4-BE49-F238E27FC236}">
                <a16:creationId xmlns:a16="http://schemas.microsoft.com/office/drawing/2014/main" id="{8E3EAE34-69C3-462D-9AFC-8A0429AC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10250"/>
            <a:ext cx="228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8BC8E2E-F503-49C9-83F1-5CDA4FC4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934075"/>
            <a:ext cx="2019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Secure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26" name="node">
            <a:extLst xmlns:a="http://schemas.openxmlformats.org/drawingml/2006/main">
              <a:ext uri="{FF2B5EF4-FFF2-40B4-BE49-F238E27FC236}">
                <a16:creationId xmlns:a16="http://schemas.microsoft.com/office/drawing/2014/main" id="{55E2246F-ADFC-45CC-8654-9F5C67A6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191250"/>
            <a:ext cx="228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B73A033-FA1C-4E86-AE40-A451C143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315075"/>
            <a:ext cx="2019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Real-Time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28" name="node">
            <a:extLst xmlns:a="http://schemas.openxmlformats.org/drawingml/2006/main">
              <a:ext uri="{FF2B5EF4-FFF2-40B4-BE49-F238E27FC236}">
                <a16:creationId xmlns:a16="http://schemas.microsoft.com/office/drawing/2014/main" id="{FBC5F72F-7940-407F-BF86-5EA877A3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810250"/>
            <a:ext cx="228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886E0AD-B5B7-4F4B-A925-F33C9FF4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5934075"/>
            <a:ext cx="2019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Robotic Arm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Queue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0C92D42-297C-4039-B2BA-A3DE5F83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1247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D44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D4444"/>
                </a:solidFill>
                <a:latin typeface="Aptos"/>
                <a:ea typeface="Aptos"/>
                <a:cs typeface="Aptos"/>
              </a:rPr>
              <a:t>Gap: no single end-to-end workflow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A3B56393-52D0-48B0-9813-964AFAB3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1247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3AB3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AB37A"/>
                </a:solidFill>
                <a:latin typeface="Aptos"/>
                <a:ea typeface="Aptos"/>
                <a:cs typeface="Aptos"/>
              </a:rPr>
              <a:t>Solution: AI + database + dispensing</a:t>
            </a:r>
          </a:p>
        </p:txBody>
      </p:sp>
    </p:spTree>
    <p:extLst>
      <p:ext uri="{BB962C8B-B14F-4D97-AF65-F5344CB8AC3E}">
        <p14:creationId xmlns:p14="http://schemas.microsoft.com/office/powerpoint/2010/main" val="11822106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5696B78-FCD5-4DBC-8305-5A80F4FA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wash">
            <a:extLst xmlns:a="http://schemas.openxmlformats.org/drawingml/2006/main">
              <a:ext uri="{FF2B5EF4-FFF2-40B4-BE49-F238E27FC236}">
                <a16:creationId xmlns:a16="http://schemas.microsoft.com/office/drawing/2014/main" id="{CF8E1CBA-42F8-4F4E-AD4A-D842BAB0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EEF9FF"/>
            </a:solidFill>
          </a:ln>
        </p:spPr>
      </p:sp>
      <p:sp>
        <p:nvSpPr>
          <p:cNvPr id="3" name="top-band">
            <a:extLst xmlns:a="http://schemas.openxmlformats.org/drawingml/2006/main">
              <a:ext uri="{FF2B5EF4-FFF2-40B4-BE49-F238E27FC236}">
                <a16:creationId xmlns:a16="http://schemas.microsoft.com/office/drawing/2014/main" id="{4E1AA12C-1289-4862-9DFE-A3CA4180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bottom-band">
            <a:extLst xmlns:a="http://schemas.openxmlformats.org/drawingml/2006/main">
              <a:ext uri="{FF2B5EF4-FFF2-40B4-BE49-F238E27FC236}">
                <a16:creationId xmlns:a16="http://schemas.microsoft.com/office/drawing/2014/main" id="{32D4D53A-5736-41D6-8915-C843A722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8670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8A0D50C-B5E5-445F-AC22-A07D88F0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APMS Graduation Project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B40A8C3-FD3A-4381-A0CF-55D8F853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8096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AI + Software + Hardware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827887-AC56-43A3-AA5E-8E9365DE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184"/>
                </a:solidFill>
                <a:latin typeface="Aptos"/>
                <a:ea typeface="Aptos"/>
                <a:cs typeface="Aptos"/>
              </a:rPr>
              <a:t>SLIDE 6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9191395-00B7-4A40-A0FD-2B5E3F2A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System Architecture Overview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81E3C5F-51A8-48CA-B616-9A69395A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The magic becomes layered engineering</a:t>
            </a:r>
          </a:p>
        </p:txBody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2012DB11-61C6-4099-AD92-5993FB7C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3763625" cy="5905500"/>
          </a:xfrm>
          <a:prstGeom xmlns:a="http://schemas.openxmlformats.org/drawingml/2006/main" prst="roundRect">
            <a:avLst>
              <a:gd name="adj" fmla="val 1290"/>
            </a:avLst>
          </a:prstGeom>
          <a:solidFill xmlns:a="http://schemas.openxmlformats.org/drawingml/2006/main">
            <a:srgbClr val="0B1724"/>
          </a:solidFill>
          <a:ln xmlns:a="http://schemas.openxmlformats.org/drawingml/2006/main" w="9525">
            <a:solidFill>
              <a:srgbClr val="0B1724"/>
            </a:solidFill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D77A291-B97C-44EE-885A-111AF0A4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859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Layered Ecosystem</a:t>
            </a:r>
          </a:p>
        </p:txBody>
      </p:sp>
      <p:sp>
        <p:nvSpPr>
          <p:cNvPr id="12" name="node">
            <a:extLst xmlns:a="http://schemas.openxmlformats.org/drawingml/2006/main">
              <a:ext uri="{FF2B5EF4-FFF2-40B4-BE49-F238E27FC236}">
                <a16:creationId xmlns:a16="http://schemas.microsoft.com/office/drawing/2014/main" id="{137377E2-AC96-4809-AB4D-1384DAA6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1952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8DBED2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6529FEA-1773-4D9E-A7B2-23442D6A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09950"/>
            <a:ext cx="16859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Flutter Apps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APMS + Roshetty</a:t>
            </a:r>
          </a:p>
        </p:txBody>
      </p:sp>
      <p:sp>
        <p:nvSpPr>
          <p:cNvPr id="14" name="node">
            <a:extLst xmlns:a="http://schemas.openxmlformats.org/drawingml/2006/main">
              <a:ext uri="{FF2B5EF4-FFF2-40B4-BE49-F238E27FC236}">
                <a16:creationId xmlns:a16="http://schemas.microsoft.com/office/drawing/2014/main" id="{8998EBA8-9CA5-4FA3-A17D-BC6ACFE7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86125"/>
            <a:ext cx="1952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BED2"/>
            </a:solidFill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7FBA314-8F8F-4200-B182-E9D6E3D4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09950"/>
            <a:ext cx="16859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Express TS API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REST + WebSocket</a:t>
            </a:r>
          </a:p>
        </p:txBody>
      </p:sp>
      <p:sp>
        <p:nvSpPr>
          <p:cNvPr id="16" name="node">
            <a:extLst xmlns:a="http://schemas.openxmlformats.org/drawingml/2006/main">
              <a:ext uri="{FF2B5EF4-FFF2-40B4-BE49-F238E27FC236}">
                <a16:creationId xmlns:a16="http://schemas.microsoft.com/office/drawing/2014/main" id="{CD1EC911-0ACD-4FE0-9F28-C2D69B63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1952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BED2"/>
            </a:solidFill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2321009-0D62-4E2F-8362-CB86ADF1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9950"/>
            <a:ext cx="16859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Core Schema</a:t>
            </a:r>
          </a:p>
        </p:txBody>
      </p:sp>
      <p:sp>
        <p:nvSpPr>
          <p:cNvPr id="18" name="node">
            <a:extLst xmlns:a="http://schemas.openxmlformats.org/drawingml/2006/main">
              <a:ext uri="{FF2B5EF4-FFF2-40B4-BE49-F238E27FC236}">
                <a16:creationId xmlns:a16="http://schemas.microsoft.com/office/drawing/2014/main" id="{B6D5261C-AB1A-4C33-936B-830B82B7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86125"/>
            <a:ext cx="1952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BED2"/>
            </a:solidFill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2666F91-D095-4FC8-B245-C5A7F5D6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16859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AI Services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FastAPI + Flask</a:t>
            </a:r>
          </a:p>
        </p:txBody>
      </p:sp>
      <p:sp>
        <p:nvSpPr>
          <p:cNvPr id="20" name="node">
            <a:extLst xmlns:a="http://schemas.openxmlformats.org/drawingml/2006/main">
              <a:ext uri="{FF2B5EF4-FFF2-40B4-BE49-F238E27FC236}">
                <a16:creationId xmlns:a16="http://schemas.microsoft.com/office/drawing/2014/main" id="{A0E296AE-B360-4C32-990B-E1618BBF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86125"/>
            <a:ext cx="1952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AFDEB"/>
          </a:solidFill>
          <a:ln xmlns:a="http://schemas.openxmlformats.org/drawingml/2006/main" w="9525">
            <a:solidFill>
              <a:srgbClr val="8DBED2"/>
            </a:solidFill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BCF9957-0949-4AA9-98C8-C02FE056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09950"/>
            <a:ext cx="16859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Hardware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SerialPort + Arm</a:t>
            </a:r>
          </a:p>
        </p:txBody>
      </p:sp>
      <p:sp>
        <p:nvSpPr>
          <p:cNvPr id="22" name="arrow">
            <a:extLst xmlns:a="http://schemas.openxmlformats.org/drawingml/2006/main">
              <a:ext uri="{FF2B5EF4-FFF2-40B4-BE49-F238E27FC236}">
                <a16:creationId xmlns:a16="http://schemas.microsoft.com/office/drawing/2014/main" id="{ED12188B-512A-486C-80BC-54CE4323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29050"/>
            <a:ext cx="5238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8FD3FF"/>
            </a:solidFill>
          </a:ln>
        </p:spPr>
      </p:sp>
      <p:sp>
        <p:nvSpPr>
          <p:cNvPr id="23" name="arrow">
            <a:extLst xmlns:a="http://schemas.openxmlformats.org/drawingml/2006/main">
              <a:ext uri="{FF2B5EF4-FFF2-40B4-BE49-F238E27FC236}">
                <a16:creationId xmlns:a16="http://schemas.microsoft.com/office/drawing/2014/main" id="{495A2A46-2CC2-40F3-A85D-45F8A06B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29050"/>
            <a:ext cx="5238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8FD3FF"/>
            </a:solidFill>
          </a:ln>
        </p:spPr>
      </p:sp>
      <p:sp>
        <p:nvSpPr>
          <p:cNvPr id="24" name="arrow">
            <a:extLst xmlns:a="http://schemas.openxmlformats.org/drawingml/2006/main">
              <a:ext uri="{FF2B5EF4-FFF2-40B4-BE49-F238E27FC236}">
                <a16:creationId xmlns:a16="http://schemas.microsoft.com/office/drawing/2014/main" id="{60738F88-5603-4AAA-92C1-44866C49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29050"/>
            <a:ext cx="5238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8FD3FF"/>
            </a:solidFill>
          </a:ln>
        </p:spPr>
      </p:sp>
      <p:sp>
        <p:nvSpPr>
          <p:cNvPr id="25" name="arrow">
            <a:extLst xmlns:a="http://schemas.openxmlformats.org/drawingml/2006/main">
              <a:ext uri="{FF2B5EF4-FFF2-40B4-BE49-F238E27FC236}">
                <a16:creationId xmlns:a16="http://schemas.microsoft.com/office/drawing/2014/main" id="{F94E8500-C0CF-4E09-9BD9-D7F504A3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829050"/>
            <a:ext cx="5238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8FD3FF"/>
            </a:solidFill>
          </a:ln>
        </p:spPr>
      </p:sp>
      <p:sp>
        <p:nvSpPr>
          <p:cNvPr id="26" name="node">
            <a:extLst xmlns:a="http://schemas.openxmlformats.org/drawingml/2006/main">
              <a:ext uri="{FF2B5EF4-FFF2-40B4-BE49-F238E27FC236}">
                <a16:creationId xmlns:a16="http://schemas.microsoft.com/office/drawing/2014/main" id="{28BB6F77-19E5-46B3-ADC7-31B14C7E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34000"/>
            <a:ext cx="1952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BED2"/>
            </a:solidFill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28D5328-9891-4089-BE43-56C6924B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57825"/>
            <a:ext cx="16859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JWT Auth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RBAC</a:t>
            </a:r>
          </a:p>
        </p:txBody>
      </p:sp>
      <p:sp>
        <p:nvSpPr>
          <p:cNvPr id="28" name="node">
            <a:extLst xmlns:a="http://schemas.openxmlformats.org/drawingml/2006/main">
              <a:ext uri="{FF2B5EF4-FFF2-40B4-BE49-F238E27FC236}">
                <a16:creationId xmlns:a16="http://schemas.microsoft.com/office/drawing/2014/main" id="{3E60830D-7CC7-48D3-A8DF-585C467C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1952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BED2"/>
            </a:solidFill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76891E6-A3C0-41D6-AE1F-79C4969E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57825"/>
            <a:ext cx="16859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OCR: glm-ocr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Medicine Match</a:t>
            </a:r>
          </a:p>
        </p:txBody>
      </p:sp>
      <p:sp>
        <p:nvSpPr>
          <p:cNvPr id="30" name="node">
            <a:extLst xmlns:a="http://schemas.openxmlformats.org/drawingml/2006/main">
              <a:ext uri="{FF2B5EF4-FFF2-40B4-BE49-F238E27FC236}">
                <a16:creationId xmlns:a16="http://schemas.microsoft.com/office/drawing/2014/main" id="{3396DC73-1A01-4DE3-95FD-8E659653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34000"/>
            <a:ext cx="1952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BED2"/>
            </a:solidFill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D6153CE3-6E33-4BCF-B392-F3716E19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457825"/>
            <a:ext cx="16859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AI Chatbot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Groq Llama 3.3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4146F789-ABB2-4D39-B25E-337A28EE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48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BFEA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FEAFF"/>
                </a:solidFill>
                <a:latin typeface="Aptos"/>
                <a:ea typeface="Aptos"/>
                <a:cs typeface="Aptos"/>
              </a:rPr>
              <a:t>Repository-confirmed stack</a:t>
            </a:r>
          </a:p>
        </p:txBody>
      </p:sp>
    </p:spTree>
    <p:extLst>
      <p:ext uri="{BB962C8B-B14F-4D97-AF65-F5344CB8AC3E}">
        <p14:creationId xmlns:p14="http://schemas.microsoft.com/office/powerpoint/2010/main" val="14867148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43067D0-2A1B-4688-ADF0-1B18E416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wash">
            <a:extLst xmlns:a="http://schemas.openxmlformats.org/drawingml/2006/main">
              <a:ext uri="{FF2B5EF4-FFF2-40B4-BE49-F238E27FC236}">
                <a16:creationId xmlns:a16="http://schemas.microsoft.com/office/drawing/2014/main" id="{B5DA471E-10C6-4647-830B-BA1450D1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EEF9FF"/>
            </a:solidFill>
          </a:ln>
        </p:spPr>
      </p:sp>
      <p:sp>
        <p:nvSpPr>
          <p:cNvPr id="3" name="top-band">
            <a:extLst xmlns:a="http://schemas.openxmlformats.org/drawingml/2006/main">
              <a:ext uri="{FF2B5EF4-FFF2-40B4-BE49-F238E27FC236}">
                <a16:creationId xmlns:a16="http://schemas.microsoft.com/office/drawing/2014/main" id="{ED6606D5-A5EF-4DF5-BB22-0EB1AE27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bottom-band">
            <a:extLst xmlns:a="http://schemas.openxmlformats.org/drawingml/2006/main">
              <a:ext uri="{FF2B5EF4-FFF2-40B4-BE49-F238E27FC236}">
                <a16:creationId xmlns:a16="http://schemas.microsoft.com/office/drawing/2014/main" id="{300742DC-EDDE-4AEB-9FDC-318ACDF0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8670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F234A6C-80E3-4A56-8C67-2071238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APMS Graduation Project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6D8185A-958B-4C25-8BFA-F92A08F7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8096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AI + Software + Hardware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033AD89-2E58-4840-B267-3DF820E7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184"/>
                </a:solidFill>
                <a:latin typeface="Aptos"/>
                <a:ea typeface="Aptos"/>
                <a:cs typeface="Aptos"/>
              </a:rPr>
              <a:t>SLIDE 7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DD05C59-49FF-4A84-B1F9-7D13BBA1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Core Engine: AI-to-Database Bridge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8298176-1590-4029-9021-859D30C2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Unstructured input becomes safe action</a:t>
            </a:r>
          </a:p>
        </p:txBody>
      </p:sp>
      <p:sp>
        <p:nvSpPr>
          <p:cNvPr id="10" name="node">
            <a:extLst xmlns:a="http://schemas.openxmlformats.org/drawingml/2006/main">
              <a:ext uri="{FF2B5EF4-FFF2-40B4-BE49-F238E27FC236}">
                <a16:creationId xmlns:a16="http://schemas.microsoft.com/office/drawing/2014/main" id="{94A04BA4-F6CF-43FA-9011-B4203257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0CE0E5D-C7A1-4F7D-B093-172497C2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543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Raw Input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Chat / scan</a:t>
            </a:r>
          </a:p>
        </p:txBody>
      </p:sp>
      <p:sp>
        <p:nvSpPr>
          <p:cNvPr id="12" name="node">
            <a:extLst xmlns:a="http://schemas.openxmlformats.org/drawingml/2006/main">
              <a:ext uri="{FF2B5EF4-FFF2-40B4-BE49-F238E27FC236}">
                <a16:creationId xmlns:a16="http://schemas.microsoft.com/office/drawing/2014/main" id="{AAB70401-98E7-45B0-849C-0BEDA07A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19375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DE7A53B-0FBA-4565-937D-540061ED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743200"/>
            <a:ext cx="1543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AI/OCR Model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glm-ocr + Llama</a:t>
            </a:r>
          </a:p>
        </p:txBody>
      </p:sp>
      <p:sp>
        <p:nvSpPr>
          <p:cNvPr id="14" name="node">
            <a:extLst xmlns:a="http://schemas.openxmlformats.org/drawingml/2006/main">
              <a:ext uri="{FF2B5EF4-FFF2-40B4-BE49-F238E27FC236}">
                <a16:creationId xmlns:a16="http://schemas.microsoft.com/office/drawing/2014/main" id="{BA86B384-75DB-4472-A7F2-F1DE5342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3915752-F9C8-490F-A51D-05468263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43200"/>
            <a:ext cx="1543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JSON Contract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Standard fields</a:t>
            </a:r>
          </a:p>
        </p:txBody>
      </p:sp>
      <p:sp>
        <p:nvSpPr>
          <p:cNvPr id="16" name="node">
            <a:extLst xmlns:a="http://schemas.openxmlformats.org/drawingml/2006/main">
              <a:ext uri="{FF2B5EF4-FFF2-40B4-BE49-F238E27FC236}">
                <a16:creationId xmlns:a16="http://schemas.microsoft.com/office/drawing/2014/main" id="{D78FBE81-E8EF-4542-8E01-3AE5E876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19375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FA8C800-128F-4A89-88B1-4A31426D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743200"/>
            <a:ext cx="1543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Middleware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Zod + services</a:t>
            </a:r>
          </a:p>
        </p:txBody>
      </p:sp>
      <p:sp>
        <p:nvSpPr>
          <p:cNvPr id="18" name="node">
            <a:extLst xmlns:a="http://schemas.openxmlformats.org/drawingml/2006/main">
              <a:ext uri="{FF2B5EF4-FFF2-40B4-BE49-F238E27FC236}">
                <a16:creationId xmlns:a16="http://schemas.microsoft.com/office/drawing/2014/main" id="{9F0158B5-D726-4082-8238-0F58F8E9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C0E3435-1362-4DC9-9D96-CD3F4B2F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43200"/>
            <a:ext cx="1543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Transactions</a:t>
            </a:r>
          </a:p>
        </p:txBody>
      </p:sp>
      <p:sp>
        <p:nvSpPr>
          <p:cNvPr id="20" name="node">
            <a:extLst xmlns:a="http://schemas.openxmlformats.org/drawingml/2006/main">
              <a:ext uri="{FF2B5EF4-FFF2-40B4-BE49-F238E27FC236}">
                <a16:creationId xmlns:a16="http://schemas.microsoft.com/office/drawing/2014/main" id="{EB8533BA-3712-4599-B7F6-A8EA81F5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2619375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DEB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3EFB93F-B162-4766-9010-005C44B6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2743200"/>
            <a:ext cx="1543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Robot Queue</a:t>
            </a:r>
          </a:p>
          <a:p xmlns:a="http://schemas.openxmlformats.org/drawingml/2006/main">
            <a:pPr algn="ctr">
              <a:defRPr sz="12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Dispense job</a:t>
            </a:r>
          </a:p>
        </p:txBody>
      </p:sp>
      <p:sp>
        <p:nvSpPr>
          <p:cNvPr id="22" name="arrow">
            <a:extLst xmlns:a="http://schemas.openxmlformats.org/drawingml/2006/main">
              <a:ext uri="{FF2B5EF4-FFF2-40B4-BE49-F238E27FC236}">
                <a16:creationId xmlns:a16="http://schemas.microsoft.com/office/drawing/2014/main" id="{F607B96A-796D-4303-A788-A0E32DCD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428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A"/>
            </a:solidFill>
          </a:ln>
        </p:spPr>
      </p:sp>
      <p:sp>
        <p:nvSpPr>
          <p:cNvPr id="23" name="arrow">
            <a:extLst xmlns:a="http://schemas.openxmlformats.org/drawingml/2006/main">
              <a:ext uri="{FF2B5EF4-FFF2-40B4-BE49-F238E27FC236}">
                <a16:creationId xmlns:a16="http://schemas.microsoft.com/office/drawing/2014/main" id="{0E379225-AB68-4DBA-9656-60F68B62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43250"/>
            <a:ext cx="428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A"/>
            </a:solidFill>
          </a:ln>
        </p:spPr>
      </p:sp>
      <p:sp>
        <p:nvSpPr>
          <p:cNvPr id="24" name="arrow">
            <a:extLst xmlns:a="http://schemas.openxmlformats.org/drawingml/2006/main">
              <a:ext uri="{FF2B5EF4-FFF2-40B4-BE49-F238E27FC236}">
                <a16:creationId xmlns:a16="http://schemas.microsoft.com/office/drawing/2014/main" id="{553116FD-A9DE-4DBE-ACD6-625D3942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428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A"/>
            </a:solidFill>
          </a:ln>
        </p:spPr>
      </p:sp>
      <p:sp>
        <p:nvSpPr>
          <p:cNvPr id="25" name="arrow">
            <a:extLst xmlns:a="http://schemas.openxmlformats.org/drawingml/2006/main">
              <a:ext uri="{FF2B5EF4-FFF2-40B4-BE49-F238E27FC236}">
                <a16:creationId xmlns:a16="http://schemas.microsoft.com/office/drawing/2014/main" id="{F400BEB4-4435-49E7-9127-D474AC32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43250"/>
            <a:ext cx="428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A"/>
            </a:solidFill>
          </a:ln>
        </p:spPr>
      </p:sp>
      <p:sp>
        <p:nvSpPr>
          <p:cNvPr id="26" name="arrow">
            <a:extLst xmlns:a="http://schemas.openxmlformats.org/drawingml/2006/main">
              <a:ext uri="{FF2B5EF4-FFF2-40B4-BE49-F238E27FC236}">
                <a16:creationId xmlns:a16="http://schemas.microsoft.com/office/drawing/2014/main" id="{74343E4E-5DEF-453A-B477-FB137762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143250"/>
            <a:ext cx="428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A"/>
            </a:solidFill>
          </a:ln>
        </p:spPr>
      </p:sp>
      <p:sp>
        <p:nvSpPr>
          <p:cNvPr id="27" name="card">
            <a:extLst xmlns:a="http://schemas.openxmlformats.org/drawingml/2006/main">
              <a:ext uri="{FF2B5EF4-FFF2-40B4-BE49-F238E27FC236}">
                <a16:creationId xmlns:a16="http://schemas.microsoft.com/office/drawing/2014/main" id="{0A469861-877D-4D35-A96E-C10D8332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12573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8E324CD-3F50-425B-87A8-E65DA27F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FD3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FD3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2BEAD63-7656-4E01-9287-0C123F84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1017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Parse medicine names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8288F599-48D7-4F2F-B0BB-74D1E533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197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FD3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FD3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B43FA99B-5072-44FC-B000-F2EDFA56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1017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Match inventory records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8F35BDC0-9E71-4FE6-BE1E-54C6A81D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FD3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FD3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9FAC3E5F-A698-41D4-8009-98411A54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21017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Validate prescription state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3A0187AD-CE6D-440A-82FA-C0C0ABE9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197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FD3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FD3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637A087E-153F-4BB4-87A6-F49DC596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1017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Update queue tables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1BEA5B21-89AF-4618-BBF1-8CB56768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2197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FD3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FD3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23E9EBB0-55AA-450D-A165-75682EDB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21017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Broadcast live status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FBA39053-1D32-48E4-9975-A016033F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743700"/>
            <a:ext cx="1047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Key tables: prescriptions, prescription_items, medicines_inventory, robot_jobs</a:t>
            </a:r>
          </a:p>
        </p:txBody>
      </p:sp>
    </p:spTree>
    <p:extLst>
      <p:ext uri="{BB962C8B-B14F-4D97-AF65-F5344CB8AC3E}">
        <p14:creationId xmlns:p14="http://schemas.microsoft.com/office/powerpoint/2010/main" val="16554234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FD1C072-5532-4A58-88BF-76794D03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wash">
            <a:extLst xmlns:a="http://schemas.openxmlformats.org/drawingml/2006/main">
              <a:ext uri="{FF2B5EF4-FFF2-40B4-BE49-F238E27FC236}">
                <a16:creationId xmlns:a16="http://schemas.microsoft.com/office/drawing/2014/main" id="{75F7301D-1978-4567-9A5E-A6D25D70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EEF9FF"/>
            </a:solidFill>
          </a:ln>
        </p:spPr>
      </p:sp>
      <p:sp>
        <p:nvSpPr>
          <p:cNvPr id="3" name="top-band">
            <a:extLst xmlns:a="http://schemas.openxmlformats.org/drawingml/2006/main">
              <a:ext uri="{FF2B5EF4-FFF2-40B4-BE49-F238E27FC236}">
                <a16:creationId xmlns:a16="http://schemas.microsoft.com/office/drawing/2014/main" id="{7DFE5255-40CF-4A95-86F0-F81E1EAC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bottom-band">
            <a:extLst xmlns:a="http://schemas.openxmlformats.org/drawingml/2006/main">
              <a:ext uri="{FF2B5EF4-FFF2-40B4-BE49-F238E27FC236}">
                <a16:creationId xmlns:a16="http://schemas.microsoft.com/office/drawing/2014/main" id="{E7775374-52B5-4F60-BACB-DAF1E3E7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8670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B1961C8-83B0-459F-8A3D-9F74A9BB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APMS Graduation Project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6FE91E3-7086-4019-9485-E6E90D86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8096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AI + Software + Hardware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339720E-8589-499A-A6B0-0B82177D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184"/>
                </a:solidFill>
                <a:latin typeface="Aptos"/>
                <a:ea typeface="Aptos"/>
                <a:cs typeface="Aptos"/>
              </a:rPr>
              <a:t>SLIDE 8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6D7781A-10FF-4C6B-954E-1757720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Frontend &amp; HCI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B1C3793-C971-453F-AEDF-2DE2FA34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Empathy appears as reduced friction</a:t>
            </a:r>
          </a:p>
        </p:txBody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81165BB0-B3FD-4FDB-A337-897A0AA5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66875"/>
            <a:ext cx="7429500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FED90990-DBE4-4EB8-A3F9-C6126A62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6762750" cy="4143375"/>
          </a:xfrm>
          <a:prstGeom xmlns:a="http://schemas.openxmlformats.org/drawingml/2006/main" prst="roundRect">
            <a:avLst>
              <a:gd name="adj" fmla="val 1839"/>
            </a:avLst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84D2338-CB14-4CCE-BC74-DE311426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APMS Dashboard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378A001F-D99C-40F4-8437-1EBF39A7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00375"/>
            <a:ext cx="2476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B2EF2F1-772B-45EC-B6F2-B487325A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575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Inventory live count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A6CA53A5-976F-437E-98AD-40D90609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2476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3700CBD-77F6-4461-8B74-BAE79950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Prescription queue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B6551646-BF4F-47F6-AD7E-A81B1CFE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2476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DEB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7AA5EBD-5AE7-431C-A56C-B93430D6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48175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Robot job status</a:t>
            </a:r>
          </a:p>
        </p:txBody>
      </p:sp>
      <p:sp>
        <p:nvSpPr>
          <p:cNvPr id="19" name="card">
            <a:extLst xmlns:a="http://schemas.openxmlformats.org/drawingml/2006/main">
              <a:ext uri="{FF2B5EF4-FFF2-40B4-BE49-F238E27FC236}">
                <a16:creationId xmlns:a16="http://schemas.microsoft.com/office/drawing/2014/main" id="{79E79030-8D01-43C8-85BE-444FB70E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2476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BEB16D1-6E27-4C28-A23E-0E600B01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48175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AI recommendations</a:t>
            </a:r>
          </a:p>
        </p:txBody>
      </p:sp>
      <p:sp>
        <p:nvSpPr>
          <p:cNvPr id="21" name="card">
            <a:extLst xmlns:a="http://schemas.openxmlformats.org/drawingml/2006/main">
              <a:ext uri="{FF2B5EF4-FFF2-40B4-BE49-F238E27FC236}">
                <a16:creationId xmlns:a16="http://schemas.microsoft.com/office/drawing/2014/main" id="{E3252E11-57E2-41C7-8DA0-6607ACD8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90700"/>
            <a:ext cx="3429000" cy="4953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2" name="shape">
            <a:extLst xmlns:a="http://schemas.openxmlformats.org/drawingml/2006/main">
              <a:ext uri="{FF2B5EF4-FFF2-40B4-BE49-F238E27FC236}">
                <a16:creationId xmlns:a16="http://schemas.microsoft.com/office/drawing/2014/main" id="{13D82861-8C38-4513-9175-1F22BD46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62200"/>
            <a:ext cx="2762250" cy="37147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33F8C6F-B3E9-424B-9EAE-F3381B5B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479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Roshetty Mobile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C67E297C-2F34-42CF-B985-4C939635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0"/>
            <a:ext cx="228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187EE72-153F-4E1F-8A7B-46626F4B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3337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Scan</a:t>
            </a:r>
          </a:p>
        </p:txBody>
      </p:sp>
      <p:sp>
        <p:nvSpPr>
          <p:cNvPr id="26" name="card">
            <a:extLst xmlns:a="http://schemas.openxmlformats.org/drawingml/2006/main">
              <a:ext uri="{FF2B5EF4-FFF2-40B4-BE49-F238E27FC236}">
                <a16:creationId xmlns:a16="http://schemas.microsoft.com/office/drawing/2014/main" id="{33DD672F-6B5F-4B45-9CEA-F14C0A78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29050"/>
            <a:ext cx="228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585572E-E780-4181-AF66-DBDF1D95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924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Chat</a:t>
            </a:r>
          </a:p>
        </p:txBody>
      </p:sp>
      <p:sp>
        <p:nvSpPr>
          <p:cNvPr id="28" name="card">
            <a:extLst xmlns:a="http://schemas.openxmlformats.org/drawingml/2006/main">
              <a:ext uri="{FF2B5EF4-FFF2-40B4-BE49-F238E27FC236}">
                <a16:creationId xmlns:a16="http://schemas.microsoft.com/office/drawing/2014/main" id="{09B84F2F-147A-4092-8683-0CFB0890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19600"/>
            <a:ext cx="228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952F887-B3FD-4F78-8102-B530C93A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14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30" name="card">
            <a:extLst xmlns:a="http://schemas.openxmlformats.org/drawingml/2006/main">
              <a:ext uri="{FF2B5EF4-FFF2-40B4-BE49-F238E27FC236}">
                <a16:creationId xmlns:a16="http://schemas.microsoft.com/office/drawing/2014/main" id="{5756C246-1DDC-4FF2-A2EE-15912561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10150"/>
            <a:ext cx="228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BED919B1-2259-48FE-8B13-64807523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1054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Confirm</a:t>
            </a:r>
          </a:p>
        </p:txBody>
      </p:sp>
      <p:sp>
        <p:nvSpPr>
          <p:cNvPr id="32" name="dot">
            <a:extLst xmlns:a="http://schemas.openxmlformats.org/drawingml/2006/main">
              <a:ext uri="{FF2B5EF4-FFF2-40B4-BE49-F238E27FC236}">
                <a16:creationId xmlns:a16="http://schemas.microsoft.com/office/drawing/2014/main" id="{7DB6ABC8-18F8-408A-BEC3-8FD190CC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077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B5A2C3CB-F55C-4A07-AB28-0A448FF9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000875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Flutter state-driven screens</a:t>
            </a:r>
          </a:p>
        </p:txBody>
      </p:sp>
      <p:sp>
        <p:nvSpPr>
          <p:cNvPr id="34" name="dot">
            <a:extLst xmlns:a="http://schemas.openxmlformats.org/drawingml/2006/main">
              <a:ext uri="{FF2B5EF4-FFF2-40B4-BE49-F238E27FC236}">
                <a16:creationId xmlns:a16="http://schemas.microsoft.com/office/drawing/2014/main" id="{E10DE67B-3D4A-47EE-812E-9D87102A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077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08608956-8135-4649-BCFC-67C31446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7000875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Mobile scanner + secure storage</a:t>
            </a:r>
          </a:p>
        </p:txBody>
      </p:sp>
      <p:sp>
        <p:nvSpPr>
          <p:cNvPr id="36" name="dot">
            <a:extLst xmlns:a="http://schemas.openxmlformats.org/drawingml/2006/main">
              <a:ext uri="{FF2B5EF4-FFF2-40B4-BE49-F238E27FC236}">
                <a16:creationId xmlns:a16="http://schemas.microsoft.com/office/drawing/2014/main" id="{24216694-6DAF-4B2C-81AA-C598A537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077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2EA92690-CC3C-4A4B-8B10-9CD0C5D8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000875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Clear pharmacist hierarchy</a:t>
            </a:r>
          </a:p>
        </p:txBody>
      </p:sp>
    </p:spTree>
    <p:extLst>
      <p:ext uri="{BB962C8B-B14F-4D97-AF65-F5344CB8AC3E}">
        <p14:creationId xmlns:p14="http://schemas.microsoft.com/office/powerpoint/2010/main" val="17699496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81AA7AF-CEF4-4DC4-B9EB-6BCB72F6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wash">
            <a:extLst xmlns:a="http://schemas.openxmlformats.org/drawingml/2006/main">
              <a:ext uri="{FF2B5EF4-FFF2-40B4-BE49-F238E27FC236}">
                <a16:creationId xmlns:a16="http://schemas.microsoft.com/office/drawing/2014/main" id="{E4916B19-DCC0-4C9E-8DA7-DBCC909C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EEF9FF"/>
            </a:solidFill>
          </a:ln>
        </p:spPr>
      </p:sp>
      <p:sp>
        <p:nvSpPr>
          <p:cNvPr id="3" name="top-band">
            <a:extLst xmlns:a="http://schemas.openxmlformats.org/drawingml/2006/main">
              <a:ext uri="{FF2B5EF4-FFF2-40B4-BE49-F238E27FC236}">
                <a16:creationId xmlns:a16="http://schemas.microsoft.com/office/drawing/2014/main" id="{990497C9-A6DB-46D0-A7C4-779A74D4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bottom-band">
            <a:extLst xmlns:a="http://schemas.openxmlformats.org/drawingml/2006/main">
              <a:ext uri="{FF2B5EF4-FFF2-40B4-BE49-F238E27FC236}">
                <a16:creationId xmlns:a16="http://schemas.microsoft.com/office/drawing/2014/main" id="{898126A0-283A-4F35-92BE-CEF1612A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8670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DBC7A81-93EE-46EF-8C93-C72851E7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APMS Graduation Project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1088EB7-605E-43E3-A0E3-8E133052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8096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AI + Software + Hardware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931B1E3-4B15-441A-9646-898D113B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184"/>
                </a:solidFill>
                <a:latin typeface="Aptos"/>
                <a:ea typeface="Aptos"/>
                <a:cs typeface="Aptos"/>
              </a:rPr>
              <a:t>SLIDE 9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783596-FE6B-4368-8B17-C6ECE737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VS Scenario: Traditional vs APMS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4EEC093-7B5B-4D9D-AF5E-E53B678C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The workflow battle resolves the story</a:t>
            </a:r>
          </a:p>
        </p:txBody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30284F70-3925-41E7-9027-6B8099F5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5905500" cy="514350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CD8578D0-BC90-44E1-85DE-0E530B04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14500"/>
            <a:ext cx="5905500" cy="514350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D75E36A-F756-45C7-B7F0-AF19B8B1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D444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AD4444"/>
                </a:solidFill>
                <a:latin typeface="Aptos"/>
                <a:ea typeface="Aptos"/>
                <a:cs typeface="Aptos"/>
              </a:rPr>
              <a:t>Traditional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2A647DC-473E-4CBF-A2C2-3539A8B0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APMS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EDAEB85-AF15-4064-AC9B-357AA4D4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E3A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E3A3A"/>
                </a:solidFill>
                <a:latin typeface="Aptos"/>
                <a:ea typeface="Aptos"/>
                <a:cs typeface="Aptos"/>
              </a:rPr>
              <a:t>Manual DB verification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FF5A722-7E13-43E0-85CF-E1B2831D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E3A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E3A3A"/>
                </a:solidFill>
                <a:latin typeface="Aptos"/>
                <a:ea typeface="Aptos"/>
                <a:cs typeface="Aptos"/>
              </a:rPr>
              <a:t>Shelf location search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A630848-553C-4B27-8147-C85B1A23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38625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E3A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E3A3A"/>
                </a:solidFill>
                <a:latin typeface="Aptos"/>
                <a:ea typeface="Aptos"/>
                <a:cs typeface="Aptos"/>
              </a:rPr>
              <a:t>Handwritten corrections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5E07903-DABF-455A-8F07-88FF6E58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E3A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E3A3A"/>
                </a:solidFill>
                <a:latin typeface="Aptos"/>
                <a:ea typeface="Aptos"/>
                <a:cs typeface="Aptos"/>
              </a:rPr>
              <a:t>Delayed stock update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E74D8A2-1B21-4EE5-8531-133918C9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E3A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E3A3A"/>
                </a:solidFill>
                <a:latin typeface="Aptos"/>
                <a:ea typeface="Aptos"/>
                <a:cs typeface="Aptos"/>
              </a:rPr>
              <a:t>Higher fatigue risk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5D2945F-7329-409B-B08A-B4148761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28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AI parses request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FC75556-7333-4BA4-AA82-D4E3593F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71875"/>
            <a:ext cx="428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DB updates instantly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3CF371C-2DE1-4434-8FCA-39BEDE62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38625"/>
            <a:ext cx="428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Robot queue created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0873B2C-2BA9-45F2-8DC6-A631B803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05375"/>
            <a:ext cx="428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Live status broadcast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E2AAF1A-743C-4786-AB47-991D6D45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72125"/>
            <a:ext cx="428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Pharmacist reviews confidently</a:t>
            </a:r>
          </a:p>
        </p:txBody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A2F82565-F403-4CB4-B9A9-02196E41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433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9525">
            <a:solidFill>
              <a:srgbClr val="12314A"/>
            </a:solidFill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0B40937-46C7-47FB-AB91-E52FF016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57625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VS</a:t>
            </a:r>
          </a:p>
        </p:txBody>
      </p:sp>
      <p:sp>
        <p:nvSpPr>
          <p:cNvPr id="26" name="shape">
            <a:extLst xmlns:a="http://schemas.openxmlformats.org/drawingml/2006/main">
              <a:ext uri="{FF2B5EF4-FFF2-40B4-BE49-F238E27FC236}">
                <a16:creationId xmlns:a16="http://schemas.microsoft.com/office/drawing/2014/main" id="{8951C9FA-AB45-4732-9DFD-BC4DF31B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15050"/>
            <a:ext cx="4095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DADA"/>
          </a:solidFill>
          <a:ln xmlns:a="http://schemas.openxmlformats.org/drawingml/2006/main" w="9525">
            <a:solidFill>
              <a:srgbClr val="FFDADA"/>
            </a:solidFill>
          </a:ln>
        </p:spPr>
      </p:sp>
      <p:sp>
        <p:nvSpPr>
          <p:cNvPr id="27" name="shape">
            <a:extLst xmlns:a="http://schemas.openxmlformats.org/drawingml/2006/main">
              <a:ext uri="{FF2B5EF4-FFF2-40B4-BE49-F238E27FC236}">
                <a16:creationId xmlns:a16="http://schemas.microsoft.com/office/drawing/2014/main" id="{F1052330-ACFE-479F-9ED0-F78E496F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115050"/>
            <a:ext cx="4095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DDF3FF"/>
            </a:solidFill>
          </a:ln>
        </p:spPr>
      </p:sp>
    </p:spTree>
    <p:extLst>
      <p:ext uri="{BB962C8B-B14F-4D97-AF65-F5344CB8AC3E}">
        <p14:creationId xmlns:p14="http://schemas.microsoft.com/office/powerpoint/2010/main" val="12467441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36BE713-B0E7-4FA7-855A-B7FE1D21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wash">
            <a:extLst xmlns:a="http://schemas.openxmlformats.org/drawingml/2006/main">
              <a:ext uri="{FF2B5EF4-FFF2-40B4-BE49-F238E27FC236}">
                <a16:creationId xmlns:a16="http://schemas.microsoft.com/office/drawing/2014/main" id="{F050E9FE-3FEA-494F-A75A-C8585D44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EEF9FF"/>
            </a:solidFill>
          </a:ln>
        </p:spPr>
      </p:sp>
      <p:sp>
        <p:nvSpPr>
          <p:cNvPr id="3" name="top-band">
            <a:extLst xmlns:a="http://schemas.openxmlformats.org/drawingml/2006/main">
              <a:ext uri="{FF2B5EF4-FFF2-40B4-BE49-F238E27FC236}">
                <a16:creationId xmlns:a16="http://schemas.microsoft.com/office/drawing/2014/main" id="{80F66884-BBDF-49B5-987F-5EEA1F03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bottom-band">
            <a:extLst xmlns:a="http://schemas.openxmlformats.org/drawingml/2006/main">
              <a:ext uri="{FF2B5EF4-FFF2-40B4-BE49-F238E27FC236}">
                <a16:creationId xmlns:a16="http://schemas.microsoft.com/office/drawing/2014/main" id="{E18FE4AA-92C3-47E3-9874-B5803062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8670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56A8048-CEC5-4CC0-8FA1-06561DCB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APMS Graduation Project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07EA867-829E-4D26-B4E1-4071B2A6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8096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AI + Software + Hardware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B0FCF32-8ED4-4341-B15C-5EA05368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184"/>
                </a:solidFill>
                <a:latin typeface="Aptos"/>
                <a:ea typeface="Aptos"/>
                <a:cs typeface="Aptos"/>
              </a:rPr>
              <a:t>SLIDE 10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9EE963-D0FF-43C3-A5A3-0004945E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SQA &amp; Evaluation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11B25C1-187B-4AC2-88DE-F6FF7FCB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Proof turns claims into confidence</a:t>
            </a:r>
          </a:p>
        </p:txBody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30442534-FC3B-422A-8B58-DD34F509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286250" cy="51435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561621E4-669B-4B5E-8380-84CB71BE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95450"/>
            <a:ext cx="4286250" cy="51435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D72A1CB5-A9AB-430F-BB2E-2A0F7855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95450"/>
            <a:ext cx="4286250" cy="51435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C32205B-DF71-4D84-BAB7-114382EF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Dispensing Flow Score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DCF61F0-2D7D-4639-A7C6-66A7310E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Manual workflow</a:t>
            </a:r>
          </a:p>
        </p:txBody>
      </p:sp>
      <p:sp>
        <p:nvSpPr>
          <p:cNvPr id="15" name="bar-bg">
            <a:extLst xmlns:a="http://schemas.openxmlformats.org/drawingml/2006/main">
              <a:ext uri="{FF2B5EF4-FFF2-40B4-BE49-F238E27FC236}">
                <a16:creationId xmlns:a16="http://schemas.microsoft.com/office/drawing/2014/main" id="{27428AEF-4017-461F-84E0-8658F647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43250"/>
            <a:ext cx="2857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AF6FC"/>
            </a:solidFill>
          </a:ln>
        </p:spPr>
      </p:sp>
      <p:sp>
        <p:nvSpPr>
          <p:cNvPr id="16" name="bar-fill">
            <a:extLst xmlns:a="http://schemas.openxmlformats.org/drawingml/2006/main">
              <a:ext uri="{FF2B5EF4-FFF2-40B4-BE49-F238E27FC236}">
                <a16:creationId xmlns:a16="http://schemas.microsoft.com/office/drawing/2014/main" id="{EAAF927A-5291-44AA-BC5C-4F08D68D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43250"/>
            <a:ext cx="12001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6F"/>
          </a:solidFill>
          <a:ln xmlns:a="http://schemas.openxmlformats.org/drawingml/2006/main" w="9525">
            <a:solidFill>
              <a:srgbClr val="E86F6F"/>
            </a:solidFill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A4F92D5-7C58-4B34-A64B-D6B5F31B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95625"/>
            <a:ext cx="57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EDC6F6B-1DB8-4867-86CA-540B1047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95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APMS target</a:t>
            </a:r>
          </a:p>
        </p:txBody>
      </p:sp>
      <p:sp>
        <p:nvSpPr>
          <p:cNvPr id="19" name="bar-bg">
            <a:extLst xmlns:a="http://schemas.openxmlformats.org/drawingml/2006/main">
              <a:ext uri="{FF2B5EF4-FFF2-40B4-BE49-F238E27FC236}">
                <a16:creationId xmlns:a16="http://schemas.microsoft.com/office/drawing/2014/main" id="{45E8D1F9-1930-4509-877A-F21A35A7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81450"/>
            <a:ext cx="2857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AF6FC"/>
            </a:solidFill>
          </a:ln>
        </p:spPr>
      </p:sp>
      <p:sp>
        <p:nvSpPr>
          <p:cNvPr id="20" name="bar-fill">
            <a:extLst xmlns:a="http://schemas.openxmlformats.org/drawingml/2006/main">
              <a:ext uri="{FF2B5EF4-FFF2-40B4-BE49-F238E27FC236}">
                <a16:creationId xmlns:a16="http://schemas.microsoft.com/office/drawing/2014/main" id="{BBC6AF78-C139-47A3-AA6B-78366BB5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81450"/>
            <a:ext cx="25146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AB37A"/>
          </a:solidFill>
          <a:ln xmlns:a="http://schemas.openxmlformats.org/drawingml/2006/main" w="9525">
            <a:solidFill>
              <a:srgbClr val="3AB37A"/>
            </a:solidFill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B8E725F-C998-4CB9-86F3-3FCBBBE5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33825"/>
            <a:ext cx="57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FE61D76-3144-407F-8AC0-12D8E2EE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AI Pipeline Maturity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80F1FAB-90AB-42ED-BA49-A58746C6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575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OCR extraction</a:t>
            </a:r>
          </a:p>
        </p:txBody>
      </p:sp>
      <p:sp>
        <p:nvSpPr>
          <p:cNvPr id="24" name="bar-bg">
            <a:extLst xmlns:a="http://schemas.openxmlformats.org/drawingml/2006/main">
              <a:ext uri="{FF2B5EF4-FFF2-40B4-BE49-F238E27FC236}">
                <a16:creationId xmlns:a16="http://schemas.microsoft.com/office/drawing/2014/main" id="{F3E393B2-0908-4888-A5CB-FCD959A3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43250"/>
            <a:ext cx="2667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AF6FC"/>
            </a:solidFill>
          </a:ln>
        </p:spPr>
      </p:sp>
      <p:sp>
        <p:nvSpPr>
          <p:cNvPr id="25" name="bar-fill">
            <a:extLst xmlns:a="http://schemas.openxmlformats.org/drawingml/2006/main">
              <a:ext uri="{FF2B5EF4-FFF2-40B4-BE49-F238E27FC236}">
                <a16:creationId xmlns:a16="http://schemas.microsoft.com/office/drawing/2014/main" id="{A43F0EE5-8F6B-48A8-92AA-DBEEEE79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43250"/>
            <a:ext cx="218694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1A3AD1D-C6F9-4269-AAEB-DD687D1B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95625"/>
            <a:ext cx="57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B57B1F6-1790-466A-AA8A-09CD6D26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957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JSON normalization</a:t>
            </a:r>
          </a:p>
        </p:txBody>
      </p:sp>
      <p:sp>
        <p:nvSpPr>
          <p:cNvPr id="28" name="bar-bg">
            <a:extLst xmlns:a="http://schemas.openxmlformats.org/drawingml/2006/main">
              <a:ext uri="{FF2B5EF4-FFF2-40B4-BE49-F238E27FC236}">
                <a16:creationId xmlns:a16="http://schemas.microsoft.com/office/drawing/2014/main" id="{68480CA2-2E42-43A8-86E1-E467323E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81450"/>
            <a:ext cx="2667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AF6FC"/>
            </a:solidFill>
          </a:ln>
        </p:spPr>
      </p:sp>
      <p:sp>
        <p:nvSpPr>
          <p:cNvPr id="29" name="bar-fill">
            <a:extLst xmlns:a="http://schemas.openxmlformats.org/drawingml/2006/main">
              <a:ext uri="{FF2B5EF4-FFF2-40B4-BE49-F238E27FC236}">
                <a16:creationId xmlns:a16="http://schemas.microsoft.com/office/drawing/2014/main" id="{9B9ADB3B-F2C3-406B-9CA1-B91A6EFA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81450"/>
            <a:ext cx="24003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AB37A"/>
          </a:solidFill>
          <a:ln xmlns:a="http://schemas.openxmlformats.org/drawingml/2006/main" w="9525">
            <a:solidFill>
              <a:srgbClr val="3AB37A"/>
            </a:solidFill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F65ED1BC-A1AE-48EB-BB69-01CFB795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933825"/>
            <a:ext cx="57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4EEE45F1-D947-416F-911E-5FA1CAEB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339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DB match guardrails</a:t>
            </a:r>
          </a:p>
        </p:txBody>
      </p:sp>
      <p:sp>
        <p:nvSpPr>
          <p:cNvPr id="32" name="bar-bg">
            <a:extLst xmlns:a="http://schemas.openxmlformats.org/drawingml/2006/main">
              <a:ext uri="{FF2B5EF4-FFF2-40B4-BE49-F238E27FC236}">
                <a16:creationId xmlns:a16="http://schemas.microsoft.com/office/drawing/2014/main" id="{FB8F1904-FD53-40E9-B81B-1AC1C0D3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819650"/>
            <a:ext cx="2667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AF6FC"/>
            </a:solidFill>
          </a:ln>
        </p:spPr>
      </p:sp>
      <p:sp>
        <p:nvSpPr>
          <p:cNvPr id="33" name="bar-fill">
            <a:extLst xmlns:a="http://schemas.openxmlformats.org/drawingml/2006/main">
              <a:ext uri="{FF2B5EF4-FFF2-40B4-BE49-F238E27FC236}">
                <a16:creationId xmlns:a16="http://schemas.microsoft.com/office/drawing/2014/main" id="{3843FBEF-E515-423B-833F-337FDBE4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819650"/>
            <a:ext cx="229362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2314A"/>
          </a:solidFill>
          <a:ln xmlns:a="http://schemas.openxmlformats.org/drawingml/2006/main" w="9525">
            <a:solidFill>
              <a:srgbClr val="12314A"/>
            </a:solidFill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685C3D70-1B4D-46A0-BCD1-99B55381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772025"/>
            <a:ext cx="57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86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E14869CE-E16F-4A93-A4D7-449FCA0C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764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Quality Controls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CB529483-9B0C-4FE0-8AD7-46ECACCA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Zod validation</a:t>
            </a:r>
          </a:p>
        </p:txBody>
      </p:sp>
      <p:sp>
        <p:nvSpPr>
          <p:cNvPr id="37" name="bar-bg">
            <a:extLst xmlns:a="http://schemas.openxmlformats.org/drawingml/2006/main">
              <a:ext uri="{FF2B5EF4-FFF2-40B4-BE49-F238E27FC236}">
                <a16:creationId xmlns:a16="http://schemas.microsoft.com/office/drawing/2014/main" id="{EAD28346-14CD-4AE0-BABF-5531311D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2667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AF6FC"/>
            </a:solidFill>
          </a:ln>
        </p:spPr>
      </p:sp>
      <p:sp>
        <p:nvSpPr>
          <p:cNvPr id="38" name="bar-fill">
            <a:extLst xmlns:a="http://schemas.openxmlformats.org/drawingml/2006/main">
              <a:ext uri="{FF2B5EF4-FFF2-40B4-BE49-F238E27FC236}">
                <a16:creationId xmlns:a16="http://schemas.microsoft.com/office/drawing/2014/main" id="{C7617001-1791-4AE7-8363-549395B8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245364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AB37A"/>
          </a:solidFill>
          <a:ln xmlns:a="http://schemas.openxmlformats.org/drawingml/2006/main" w="9525">
            <a:solidFill>
              <a:srgbClr val="3AB37A"/>
            </a:solidFill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AFF31B0E-0EC6-4455-847B-6D3904BC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3095625"/>
            <a:ext cx="57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F4161FA9-3FE1-4CED-99C9-63A4F3B0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957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JWT/RBAC routes</a:t>
            </a:r>
          </a:p>
        </p:txBody>
      </p:sp>
      <p:sp>
        <p:nvSpPr>
          <p:cNvPr id="41" name="bar-bg">
            <a:extLst xmlns:a="http://schemas.openxmlformats.org/drawingml/2006/main">
              <a:ext uri="{FF2B5EF4-FFF2-40B4-BE49-F238E27FC236}">
                <a16:creationId xmlns:a16="http://schemas.microsoft.com/office/drawing/2014/main" id="{39005806-B6B2-48F8-9F12-D9DD6121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81450"/>
            <a:ext cx="2667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AF6FC"/>
            </a:solidFill>
          </a:ln>
        </p:spPr>
      </p:sp>
      <p:sp>
        <p:nvSpPr>
          <p:cNvPr id="42" name="bar-fill">
            <a:extLst xmlns:a="http://schemas.openxmlformats.org/drawingml/2006/main">
              <a:ext uri="{FF2B5EF4-FFF2-40B4-BE49-F238E27FC236}">
                <a16:creationId xmlns:a16="http://schemas.microsoft.com/office/drawing/2014/main" id="{8EEB40ED-6646-46D9-882B-45A6257C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81450"/>
            <a:ext cx="234696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8FD3FF"/>
          </a:solidFill>
          <a:ln xmlns:a="http://schemas.openxmlformats.org/drawingml/2006/main" w="9525">
            <a:solidFill>
              <a:srgbClr val="8FD3FF"/>
            </a:solidFill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C12075A6-65FC-4F33-93D1-A309B718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3933825"/>
            <a:ext cx="57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3C5E0740-4475-4093-8778-D730FE9E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339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A39"/>
                </a:solidFill>
                <a:latin typeface="Aptos"/>
                <a:ea typeface="Aptos"/>
                <a:cs typeface="Aptos"/>
              </a:rPr>
              <a:t>Rollback paths</a:t>
            </a:r>
          </a:p>
        </p:txBody>
      </p:sp>
      <p:sp>
        <p:nvSpPr>
          <p:cNvPr id="45" name="bar-bg">
            <a:extLst xmlns:a="http://schemas.openxmlformats.org/drawingml/2006/main">
              <a:ext uri="{FF2B5EF4-FFF2-40B4-BE49-F238E27FC236}">
                <a16:creationId xmlns:a16="http://schemas.microsoft.com/office/drawing/2014/main" id="{E0EDB97A-7360-4B49-84D4-8BD14971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19650"/>
            <a:ext cx="2667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AF6FC"/>
            </a:solidFill>
          </a:ln>
        </p:spPr>
      </p:sp>
      <p:sp>
        <p:nvSpPr>
          <p:cNvPr id="46" name="bar-fill">
            <a:extLst xmlns:a="http://schemas.openxmlformats.org/drawingml/2006/main">
              <a:ext uri="{FF2B5EF4-FFF2-40B4-BE49-F238E27FC236}">
                <a16:creationId xmlns:a16="http://schemas.microsoft.com/office/drawing/2014/main" id="{9DF75DAF-9EF1-48E6-B3FB-03F73AC4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19650"/>
            <a:ext cx="224028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2314A"/>
          </a:solidFill>
          <a:ln xmlns:a="http://schemas.openxmlformats.org/drawingml/2006/main" w="9525">
            <a:solidFill>
              <a:srgbClr val="12314A"/>
            </a:solidFill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A3F5157B-D0FB-4F33-8308-39DC73BD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4772025"/>
            <a:ext cx="57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84</a:t>
            </a:r>
          </a:p>
        </p:txBody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B7BAE63C-3295-4696-A10A-FB3C2DD7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21995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Visualization targets based on implemented capabilities</a:t>
            </a:r>
          </a:p>
        </p:txBody>
      </p:sp>
    </p:spTree>
    <p:extLst>
      <p:ext uri="{BB962C8B-B14F-4D97-AF65-F5344CB8AC3E}">
        <p14:creationId xmlns:p14="http://schemas.microsoft.com/office/powerpoint/2010/main" val="10229691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A14D33C-FF05-4F3B-91BB-A482F043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wash">
            <a:extLst xmlns:a="http://schemas.openxmlformats.org/drawingml/2006/main">
              <a:ext uri="{FF2B5EF4-FFF2-40B4-BE49-F238E27FC236}">
                <a16:creationId xmlns:a16="http://schemas.microsoft.com/office/drawing/2014/main" id="{FC7A2B93-69A4-4CCF-82E8-889A9B04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EEF9FF"/>
            </a:solidFill>
          </a:ln>
        </p:spPr>
      </p:sp>
      <p:sp>
        <p:nvSpPr>
          <p:cNvPr id="3" name="top-band">
            <a:extLst xmlns:a="http://schemas.openxmlformats.org/drawingml/2006/main">
              <a:ext uri="{FF2B5EF4-FFF2-40B4-BE49-F238E27FC236}">
                <a16:creationId xmlns:a16="http://schemas.microsoft.com/office/drawing/2014/main" id="{4A4FEFA0-B7BA-4F8A-A3E6-4CBF5798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bottom-band">
            <a:extLst xmlns:a="http://schemas.openxmlformats.org/drawingml/2006/main">
              <a:ext uri="{FF2B5EF4-FFF2-40B4-BE49-F238E27FC236}">
                <a16:creationId xmlns:a16="http://schemas.microsoft.com/office/drawing/2014/main" id="{06C63BE5-CEFB-411B-9094-DED77B60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8670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EA51218-D480-4ADA-82FF-0CFC2C35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APMS Graduation Project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74EAB44-BF7C-41AB-934E-D36D27CD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8096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AI + Software + Hardware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41D485D-CE0A-4489-A155-66705CE7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184"/>
                </a:solidFill>
                <a:latin typeface="Aptos"/>
                <a:ea typeface="Aptos"/>
                <a:cs typeface="Aptos"/>
              </a:rPr>
              <a:t>SLIDE 11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5B379FA-41B5-4CEB-8361-9FA84F45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SQA Testing Outputs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F7F4A96-74F7-4CC7-82E1-6912540B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Reliability is shown, not promised</a:t>
            </a:r>
          </a:p>
        </p:txBody>
      </p:sp>
      <p:sp>
        <p:nvSpPr>
          <p:cNvPr id="10" name="terminal">
            <a:extLst xmlns:a="http://schemas.openxmlformats.org/drawingml/2006/main">
              <a:ext uri="{FF2B5EF4-FFF2-40B4-BE49-F238E27FC236}">
                <a16:creationId xmlns:a16="http://schemas.microsoft.com/office/drawing/2014/main" id="{7299619F-7312-46C4-BCCC-080A0FE0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642937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1724"/>
          </a:solidFill>
          <a:ln xmlns:a="http://schemas.openxmlformats.org/drawingml/2006/main" w="9525">
            <a:solidFill>
              <a:srgbClr val="0B1724"/>
            </a:solidFill>
          </a:ln>
        </p:spPr>
      </p:sp>
      <p:sp>
        <p:nvSpPr>
          <p:cNvPr id="11" name="term-dot">
            <a:extLst xmlns:a="http://schemas.openxmlformats.org/drawingml/2006/main">
              <a:ext uri="{FF2B5EF4-FFF2-40B4-BE49-F238E27FC236}">
                <a16:creationId xmlns:a16="http://schemas.microsoft.com/office/drawing/2014/main" id="{DC207BDF-DCEA-4BCF-85F4-A9B898E2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6F"/>
          </a:solidFill>
          <a:ln xmlns:a="http://schemas.openxmlformats.org/drawingml/2006/main" w="9525">
            <a:solidFill>
              <a:srgbClr val="E86F6F"/>
            </a:solidFill>
          </a:ln>
        </p:spPr>
      </p:sp>
      <p:sp>
        <p:nvSpPr>
          <p:cNvPr id="12" name="term-dot">
            <a:extLst xmlns:a="http://schemas.openxmlformats.org/drawingml/2006/main">
              <a:ext uri="{FF2B5EF4-FFF2-40B4-BE49-F238E27FC236}">
                <a16:creationId xmlns:a16="http://schemas.microsoft.com/office/drawing/2014/main" id="{A56B22DD-175C-4A48-861F-9DC212D5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36A"/>
          </a:solidFill>
          <a:ln xmlns:a="http://schemas.openxmlformats.org/drawingml/2006/main" w="9525">
            <a:solidFill>
              <a:srgbClr val="FFD36A"/>
            </a:solidFill>
          </a:ln>
        </p:spPr>
      </p:sp>
      <p:sp>
        <p:nvSpPr>
          <p:cNvPr id="13" name="term-dot">
            <a:extLst xmlns:a="http://schemas.openxmlformats.org/drawingml/2006/main">
              <a:ext uri="{FF2B5EF4-FFF2-40B4-BE49-F238E27FC236}">
                <a16:creationId xmlns:a16="http://schemas.microsoft.com/office/drawing/2014/main" id="{4C9A60BA-D657-4F29-9F57-CA2E32B5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B37A"/>
          </a:solidFill>
          <a:ln xmlns:a="http://schemas.openxmlformats.org/drawingml/2006/main" w="9525">
            <a:solidFill>
              <a:srgbClr val="3AB37A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0634514-8AF4-4A57-8395-892B34C8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59721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FF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FF6FF"/>
                </a:solidFill>
                <a:latin typeface="Aptos"/>
                <a:ea typeface="Aptos"/>
                <a:cs typeface="Aptos"/>
              </a:rPr>
              <a:t>&gt; npm test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8C7D532-5A82-4332-B1A9-A7BA7A78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59721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FF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FF6FF"/>
                </a:solidFill>
                <a:latin typeface="Aptos"/>
                <a:ea typeface="Aptos"/>
                <a:cs typeface="Aptos"/>
              </a:rPr>
              <a:t>Error: no test specified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EA6220F-B973-429E-A3D5-FA471269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59721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FF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FF6FF"/>
                </a:solidFill>
                <a:latin typeface="Aptos"/>
                <a:ea typeface="Aptos"/>
                <a:cs typeface="Aptos"/>
              </a:rPr>
              <a:t>Backend test script placeholder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55681C6-49B9-4523-9ACD-CC7348E5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59721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FF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FF6FF"/>
                </a:solidFill>
                <a:latin typeface="Aptos"/>
                <a:ea typeface="Aptos"/>
                <a:cs typeface="Aptos"/>
              </a:rPr>
              <a:t>Manual validation required</a:t>
            </a:r>
          </a:p>
        </p:txBody>
      </p:sp>
      <p:sp>
        <p:nvSpPr>
          <p:cNvPr id="18" name="terminal">
            <a:extLst xmlns:a="http://schemas.openxmlformats.org/drawingml/2006/main">
              <a:ext uri="{FF2B5EF4-FFF2-40B4-BE49-F238E27FC236}">
                <a16:creationId xmlns:a16="http://schemas.microsoft.com/office/drawing/2014/main" id="{DACCF9C3-E4E4-4284-860D-6D8B5330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642937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1724"/>
          </a:solidFill>
          <a:ln xmlns:a="http://schemas.openxmlformats.org/drawingml/2006/main" w="9525">
            <a:solidFill>
              <a:srgbClr val="0B1724"/>
            </a:solidFill>
          </a:ln>
        </p:spPr>
      </p:sp>
      <p:sp>
        <p:nvSpPr>
          <p:cNvPr id="19" name="term-dot">
            <a:extLst xmlns:a="http://schemas.openxmlformats.org/drawingml/2006/main">
              <a:ext uri="{FF2B5EF4-FFF2-40B4-BE49-F238E27FC236}">
                <a16:creationId xmlns:a16="http://schemas.microsoft.com/office/drawing/2014/main" id="{7561C54A-AB35-4C5B-9C53-C8CDDD7E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81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6F"/>
          </a:solidFill>
          <a:ln xmlns:a="http://schemas.openxmlformats.org/drawingml/2006/main" w="9525">
            <a:solidFill>
              <a:srgbClr val="E86F6F"/>
            </a:solidFill>
          </a:ln>
        </p:spPr>
      </p:sp>
      <p:sp>
        <p:nvSpPr>
          <p:cNvPr id="20" name="term-dot">
            <a:extLst xmlns:a="http://schemas.openxmlformats.org/drawingml/2006/main">
              <a:ext uri="{FF2B5EF4-FFF2-40B4-BE49-F238E27FC236}">
                <a16:creationId xmlns:a16="http://schemas.microsoft.com/office/drawing/2014/main" id="{5E99E16C-3E98-460D-A654-76616FC9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981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36A"/>
          </a:solidFill>
          <a:ln xmlns:a="http://schemas.openxmlformats.org/drawingml/2006/main" w="9525">
            <a:solidFill>
              <a:srgbClr val="FFD36A"/>
            </a:solidFill>
          </a:ln>
        </p:spPr>
      </p:sp>
      <p:sp>
        <p:nvSpPr>
          <p:cNvPr id="21" name="term-dot">
            <a:extLst xmlns:a="http://schemas.openxmlformats.org/drawingml/2006/main">
              <a:ext uri="{FF2B5EF4-FFF2-40B4-BE49-F238E27FC236}">
                <a16:creationId xmlns:a16="http://schemas.microsoft.com/office/drawing/2014/main" id="{BC8DA6E7-2015-4C35-AD55-C35A3F23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981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B37A"/>
          </a:solidFill>
          <a:ln xmlns:a="http://schemas.openxmlformats.org/drawingml/2006/main" w="9525">
            <a:solidFill>
              <a:srgbClr val="3AB37A"/>
            </a:solidFill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1C51F59-D4CE-424C-B0E9-ADA2E9CA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305050"/>
            <a:ext cx="59721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FF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FF6FF"/>
                </a:solidFill>
                <a:latin typeface="Aptos"/>
                <a:ea typeface="Aptos"/>
                <a:cs typeface="Aptos"/>
              </a:rPr>
              <a:t>&gt; flutter analyze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A51CCDB-2597-40E5-9046-B546F553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571750"/>
            <a:ext cx="59721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FF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FF6FF"/>
                </a:solidFill>
                <a:latin typeface="Aptos"/>
                <a:ea typeface="Aptos"/>
                <a:cs typeface="Aptos"/>
              </a:rPr>
              <a:t>flutter_lints configured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97B8E4E-0E1B-4019-B219-60C9F0D2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38450"/>
            <a:ext cx="59721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FF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FF6FF"/>
                </a:solidFill>
                <a:latin typeface="Aptos"/>
                <a:ea typeface="Aptos"/>
                <a:cs typeface="Aptos"/>
              </a:rPr>
              <a:t>Widget smoke tests present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4ADA572-9524-4EB2-AB5A-7FCC719B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05150"/>
            <a:ext cx="59721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FF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FF6FF"/>
                </a:solidFill>
                <a:latin typeface="Aptos"/>
                <a:ea typeface="Aptos"/>
                <a:cs typeface="Aptos"/>
              </a:rPr>
              <a:t>Mobile workflows reviewable</a:t>
            </a:r>
          </a:p>
        </p:txBody>
      </p:sp>
      <p:sp>
        <p:nvSpPr>
          <p:cNvPr id="26" name="card">
            <a:extLst xmlns:a="http://schemas.openxmlformats.org/drawingml/2006/main">
              <a:ext uri="{FF2B5EF4-FFF2-40B4-BE49-F238E27FC236}">
                <a16:creationId xmlns:a16="http://schemas.microsoft.com/office/drawing/2014/main" id="{4479D6E5-B43A-45D0-9B0D-2806DE1A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35064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67DAE33-F16A-4E67-98E2-E4B094E3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29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Integration Evidence</a:t>
            </a:r>
          </a:p>
        </p:txBody>
      </p:sp>
      <p:sp>
        <p:nvSpPr>
          <p:cNvPr id="28" name="shape">
            <a:extLst xmlns:a="http://schemas.openxmlformats.org/drawingml/2006/main">
              <a:ext uri="{FF2B5EF4-FFF2-40B4-BE49-F238E27FC236}">
                <a16:creationId xmlns:a16="http://schemas.microsoft.com/office/drawing/2014/main" id="{194D8DA7-46A7-4313-82D0-9B27DBDE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0"/>
            <a:ext cx="1152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A31E7021-548E-48DF-A696-19170B22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816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 group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F8AF8C2-6EF4-4042-9FF0-F912B3AA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816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Observed behavior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627FC38D-5DCC-479B-9399-9B1ED942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816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 control</a:t>
            </a:r>
          </a:p>
        </p:txBody>
      </p:sp>
      <p:sp>
        <p:nvSpPr>
          <p:cNvPr id="32" name="shape">
            <a:extLst xmlns:a="http://schemas.openxmlformats.org/drawingml/2006/main">
              <a:ext uri="{FF2B5EF4-FFF2-40B4-BE49-F238E27FC236}">
                <a16:creationId xmlns:a16="http://schemas.microsoft.com/office/drawing/2014/main" id="{75B3F3D0-B7C3-458B-BFE0-9E44D3B2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29300"/>
            <a:ext cx="1152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B62BF088-C09D-498F-B276-FE17CF33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864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C2A39"/>
                </a:solidFill>
                <a:latin typeface="Aptos"/>
                <a:ea typeface="Aptos"/>
                <a:cs typeface="Aptos"/>
              </a:rPr>
              <a:t>/api/prescriptions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5832FFF1-E372-441F-8B8D-D878CB55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8864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C2A39"/>
                </a:solidFill>
                <a:latin typeface="Aptos"/>
                <a:ea typeface="Aptos"/>
                <a:cs typeface="Aptos"/>
              </a:rPr>
              <a:t>Prescription queue updates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D61C7A87-D0A1-4DE6-A5B1-FD657A14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8864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C2A39"/>
                </a:solidFill>
                <a:latin typeface="Aptos"/>
                <a:ea typeface="Aptos"/>
                <a:cs typeface="Aptos"/>
              </a:rPr>
              <a:t>Transaction rollback</a:t>
            </a:r>
          </a:p>
        </p:txBody>
      </p:sp>
      <p:sp>
        <p:nvSpPr>
          <p:cNvPr id="36" name="shape">
            <a:extLst xmlns:a="http://schemas.openxmlformats.org/drawingml/2006/main">
              <a:ext uri="{FF2B5EF4-FFF2-40B4-BE49-F238E27FC236}">
                <a16:creationId xmlns:a16="http://schemas.microsoft.com/office/drawing/2014/main" id="{52CB68AB-39C4-40E1-9E03-CD185140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134100"/>
            <a:ext cx="1152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80A1BEA0-1449-4EC1-B9A2-C75D2F54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191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C2A39"/>
                </a:solidFill>
                <a:latin typeface="Aptos"/>
                <a:ea typeface="Aptos"/>
                <a:cs typeface="Aptos"/>
              </a:rPr>
              <a:t>/api/robot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598C599F-A11D-494C-BD88-DAEC56FD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191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C2A39"/>
                </a:solidFill>
                <a:latin typeface="Aptos"/>
                <a:ea typeface="Aptos"/>
                <a:cs typeface="Aptos"/>
              </a:rPr>
              <a:t>Robot job lifecycle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866921F3-99A7-4A84-9898-0CCB970D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191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C2A39"/>
                </a:solidFill>
                <a:latin typeface="Aptos"/>
                <a:ea typeface="Aptos"/>
                <a:cs typeface="Aptos"/>
              </a:rPr>
              <a:t>Status tracking</a:t>
            </a:r>
          </a:p>
        </p:txBody>
      </p:sp>
      <p:sp>
        <p:nvSpPr>
          <p:cNvPr id="40" name="shape">
            <a:extLst xmlns:a="http://schemas.openxmlformats.org/drawingml/2006/main">
              <a:ext uri="{FF2B5EF4-FFF2-40B4-BE49-F238E27FC236}">
                <a16:creationId xmlns:a16="http://schemas.microsoft.com/office/drawing/2014/main" id="{F6FB4DBC-22C9-428E-AAD0-D525418C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438900"/>
            <a:ext cx="1152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87AE8F9D-E047-4633-B297-3013C41C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C2A39"/>
                </a:solidFill>
                <a:latin typeface="Aptos"/>
                <a:ea typeface="Aptos"/>
                <a:cs typeface="Aptos"/>
              </a:rPr>
              <a:t>/api/ai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AE105175-7A6E-4638-BF8C-DE98C3F4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C2A39"/>
                </a:solidFill>
                <a:latin typeface="Aptos"/>
                <a:ea typeface="Aptos"/>
                <a:cs typeface="Aptos"/>
              </a:rPr>
              <a:t>Structured recommendations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2147ED48-C23D-4E27-98B6-A590B5DD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C2A39"/>
                </a:solidFill>
                <a:latin typeface="Aptos"/>
                <a:ea typeface="Aptos"/>
                <a:cs typeface="Aptos"/>
              </a:rPr>
              <a:t>Guarded DB writes</a:t>
            </a:r>
          </a:p>
        </p:txBody>
      </p:sp>
      <p:sp>
        <p:nvSpPr>
          <p:cNvPr id="44" name="shape">
            <a:extLst xmlns:a="http://schemas.openxmlformats.org/drawingml/2006/main">
              <a:ext uri="{FF2B5EF4-FFF2-40B4-BE49-F238E27FC236}">
                <a16:creationId xmlns:a16="http://schemas.microsoft.com/office/drawing/2014/main" id="{47606236-BBC8-404F-8075-5EC0BEA4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743700"/>
            <a:ext cx="1152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EDD1872F-EB72-4E92-A88F-EC16BE0B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800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C2A39"/>
                </a:solidFill>
                <a:latin typeface="Aptos"/>
                <a:ea typeface="Aptos"/>
                <a:cs typeface="Aptos"/>
              </a:rPr>
              <a:t>/api/public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C17A910B-2A7B-45E0-939E-2A8A13B0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800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C2A39"/>
                </a:solidFill>
                <a:latin typeface="Aptos"/>
                <a:ea typeface="Aptos"/>
                <a:cs typeface="Aptos"/>
              </a:rPr>
              <a:t>Order tracking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EA5ABBE0-8C1D-4838-BC5D-E2D2A2BB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800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A3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C2A39"/>
                </a:solidFill>
                <a:latin typeface="Aptos"/>
                <a:ea typeface="Aptos"/>
                <a:cs typeface="Aptos"/>
              </a:rPr>
              <a:t>Scoped exposure</a:t>
            </a:r>
          </a:p>
        </p:txBody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D6EA02EE-F2D7-452D-A7CC-3228B763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2771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D444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D4444"/>
                </a:solidFill>
                <a:latin typeface="Aptos"/>
                <a:ea typeface="Aptos"/>
                <a:cs typeface="Aptos"/>
              </a:rPr>
              <a:t>Key finding: backend tests need formal automation</a:t>
            </a:r>
          </a:p>
        </p:txBody>
      </p:sp>
    </p:spTree>
    <p:extLst>
      <p:ext uri="{BB962C8B-B14F-4D97-AF65-F5344CB8AC3E}">
        <p14:creationId xmlns:p14="http://schemas.microsoft.com/office/powerpoint/2010/main" val="39676793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70CDB24-831A-444F-BFE6-F1235F9E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wash">
            <a:extLst xmlns:a="http://schemas.openxmlformats.org/drawingml/2006/main">
              <a:ext uri="{FF2B5EF4-FFF2-40B4-BE49-F238E27FC236}">
                <a16:creationId xmlns:a16="http://schemas.microsoft.com/office/drawing/2014/main" id="{D665F7E6-CDD6-460D-A0CF-643DEC40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EEF9FF"/>
            </a:solidFill>
          </a:ln>
        </p:spPr>
      </p:sp>
      <p:sp>
        <p:nvSpPr>
          <p:cNvPr id="3" name="top-band">
            <a:extLst xmlns:a="http://schemas.openxmlformats.org/drawingml/2006/main">
              <a:ext uri="{FF2B5EF4-FFF2-40B4-BE49-F238E27FC236}">
                <a16:creationId xmlns:a16="http://schemas.microsoft.com/office/drawing/2014/main" id="{B1414E78-BD94-45A0-A822-11CD7C1F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bottom-band">
            <a:extLst xmlns:a="http://schemas.openxmlformats.org/drawingml/2006/main">
              <a:ext uri="{FF2B5EF4-FFF2-40B4-BE49-F238E27FC236}">
                <a16:creationId xmlns:a16="http://schemas.microsoft.com/office/drawing/2014/main" id="{536D6DDA-FD34-4AF6-BD48-B13880D3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8670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B453EBE-02C4-4FD7-9BEA-790A4581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APMS Graduation Project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196A24F-43ED-4DE4-BD46-055C9852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8096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AI + Software + Hardware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B30F595-C0CB-4694-827D-44457C43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184"/>
                </a:solidFill>
                <a:latin typeface="Aptos"/>
                <a:ea typeface="Aptos"/>
                <a:cs typeface="Aptos"/>
              </a:rPr>
              <a:t>SLIDE 12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3C0DFCB-49ED-4CF9-9963-C35522A9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3C82CAF-7A01-4D2C-8EEC-D6C0057A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The hero scales beyond prototype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DE28233D-F5A7-4A94-84AB-9EAF25F3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1162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9525">
            <a:solidFill>
              <a:srgbClr val="12314A"/>
            </a:solidFill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75B5A677-0CA4-4D23-BB6D-F4872B41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29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314A"/>
            </a:solidFill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556AA67-2D94-4125-82FD-635EAA7B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38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7F49F09A-E605-4B7E-8FEE-E90ED93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2143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10047AC-AB77-431D-912A-367E79CE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43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Hardware endpoint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2CE0F1B-1EDD-435B-A4F6-701FD4DE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14975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Finalize arm telemetry</a:t>
            </a:r>
          </a:p>
        </p:txBody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10482A52-B232-47B5-AA52-6ED2C95B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29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12314A"/>
            </a:solidFill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834D591-0984-423A-88FC-43027089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38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card">
            <a:extLst xmlns:a="http://schemas.openxmlformats.org/drawingml/2006/main">
              <a:ext uri="{FF2B5EF4-FFF2-40B4-BE49-F238E27FC236}">
                <a16:creationId xmlns:a16="http://schemas.microsoft.com/office/drawing/2014/main" id="{E5E1F8B9-A302-4AF4-AEAE-14621841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05375"/>
            <a:ext cx="2143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6614733-D3F7-4149-B613-9189231B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143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Edge AI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C2C2C57-F9C1-4072-80CD-17202740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14975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Local OCR inference</a:t>
            </a:r>
          </a:p>
        </p:txBody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57219FD2-C516-4736-873F-6BA28609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29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314A"/>
            </a:solidFill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007D130-95FB-4C10-9197-4830FA74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38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card">
            <a:extLst xmlns:a="http://schemas.openxmlformats.org/drawingml/2006/main">
              <a:ext uri="{FF2B5EF4-FFF2-40B4-BE49-F238E27FC236}">
                <a16:creationId xmlns:a16="http://schemas.microsoft.com/office/drawing/2014/main" id="{AECD1053-4228-4956-BB12-93176BDB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05375"/>
            <a:ext cx="2143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B926504-7EBB-499C-BF72-938EC333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43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Robotic payload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8CF20D8-1BC9-4C48-A3EA-54D09872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514975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Improve calibration speed</a:t>
            </a:r>
          </a:p>
        </p:txBody>
      </p:sp>
      <p:sp>
        <p:nvSpPr>
          <p:cNvPr id="26" name="shape">
            <a:extLst xmlns:a="http://schemas.openxmlformats.org/drawingml/2006/main">
              <a:ext uri="{FF2B5EF4-FFF2-40B4-BE49-F238E27FC236}">
                <a16:creationId xmlns:a16="http://schemas.microsoft.com/office/drawing/2014/main" id="{DEF79F7B-3FA9-41BF-8E5E-9F6F60D4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29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12314A"/>
            </a:solidFill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75E7381C-9304-46C4-8D7F-C2BAD610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4038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card">
            <a:extLst xmlns:a="http://schemas.openxmlformats.org/drawingml/2006/main">
              <a:ext uri="{FF2B5EF4-FFF2-40B4-BE49-F238E27FC236}">
                <a16:creationId xmlns:a16="http://schemas.microsoft.com/office/drawing/2014/main" id="{5B644529-0E1E-4CED-90EF-325A9E13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905375"/>
            <a:ext cx="2143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330A604-E5BC-437F-9547-DD8C1BF5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143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Predictive stock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9221D21-02A1-44FF-86A5-79315F5D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14975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Demand + expiry models</a:t>
            </a:r>
          </a:p>
        </p:txBody>
      </p:sp>
      <p:sp>
        <p:nvSpPr>
          <p:cNvPr id="31" name="shape">
            <a:extLst xmlns:a="http://schemas.openxmlformats.org/drawingml/2006/main">
              <a:ext uri="{FF2B5EF4-FFF2-40B4-BE49-F238E27FC236}">
                <a16:creationId xmlns:a16="http://schemas.microsoft.com/office/drawing/2014/main" id="{F0A0D854-2245-48D3-BE30-99320893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829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314A"/>
            </a:solidFill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13075992-DD59-4755-9F7D-17871F3E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4038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3" name="card">
            <a:extLst xmlns:a="http://schemas.openxmlformats.org/drawingml/2006/main">
              <a:ext uri="{FF2B5EF4-FFF2-40B4-BE49-F238E27FC236}">
                <a16:creationId xmlns:a16="http://schemas.microsoft.com/office/drawing/2014/main" id="{E8304843-D9E8-474D-8566-A13F2870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905375"/>
            <a:ext cx="2143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E8"/>
            </a:solidFill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1ADC9328-C2E4-4AF4-9820-D20D1AFC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5143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Multi-branch APMS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8DD3A3E9-3831-4ED0-8ED2-897FB616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5514975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184"/>
                </a:solidFill>
                <a:latin typeface="Aptos"/>
                <a:ea typeface="Aptos"/>
                <a:cs typeface="Aptos"/>
              </a:rPr>
              <a:t>Distributed inventory control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EE63F505-C4B2-4087-8A70-68945EC6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067550"/>
            <a:ext cx="1009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31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2314A"/>
                </a:solidFill>
                <a:latin typeface="Aptos"/>
                <a:ea typeface="Aptos"/>
                <a:cs typeface="Aptos"/>
              </a:rPr>
              <a:t>APMS path: safer dispensing, smarter stock, faster pharmacy logistics</a:t>
            </a:r>
          </a:p>
        </p:txBody>
      </p:sp>
    </p:spTree>
    <p:extLst>
      <p:ext uri="{BB962C8B-B14F-4D97-AF65-F5344CB8AC3E}">
        <p14:creationId xmlns:p14="http://schemas.microsoft.com/office/powerpoint/2010/main" val="214876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2026-05-20T22:54:59.7310000Z</dcterms:created>
  <dcterms:modified xsi:type="dcterms:W3CDTF">2026-05-20T22:54:59.7320000Z</dcterms:modified>
</coreProperties>
</file>