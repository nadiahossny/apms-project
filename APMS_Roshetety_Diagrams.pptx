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4187"/>
                </a:solidFill>
              </a:defRPr>
            </a:pPr>
            <a:r>
              <a:t>APMS &amp; Roshetety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</a:defRPr>
            </a:pPr>
            <a:r>
              <a:t>System Architecture &amp; Process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Fully Editable PowerPoint Diagrams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058400" cy="3810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Advanced Pharmacy Management System · Roshetety Patient App · AI Services · Robotic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System Architecture — Three-Tier with Microservices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1612880" cy="219456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63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74320" y="3108960"/>
            <a:ext cx="11612880" cy="1645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63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74320" y="484632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63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</a:defRPr>
            </a:pPr>
            <a:r>
              <a:t>API GATEWAY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</a:defRPr>
            </a:pPr>
            <a:r>
              <a:t>SERVICE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APMS — Staff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Dashboard &amp; KPIs  •  Inventory Management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Invoice Processing  •  Prescription Workflow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Robot Control Panel  •  AI Command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188720"/>
            <a:ext cx="4114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Roshetety — Patient App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Bilingual (Arabic / English)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OCR Prescription Scanning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Manual Entry  •  Stock Check  •  Live Tracking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880360"/>
            <a:ext cx="0" cy="27432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2880360"/>
            <a:ext cx="0" cy="27432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3337560"/>
            <a:ext cx="94183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Node.js / Express Gateway  :4000  (TypeScript)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JWT Authentication · Zod Validation · CORS · Rate Limiting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Routes: Auth · Medicines · Invoices · Prescriptions · Robot · AI Proxy · Reports · Public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297680"/>
            <a:ext cx="7589520" cy="320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WebSocket Server: Robot ACK Events · Order Status · Chat Messages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AI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Flask / FastAPI  :5000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XGBoost · Keras NN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Autoencoder · Q-Learning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OCR 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FastAPI  :5001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Ollama glm-ocr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Fuzzy Medicine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0292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3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AI Chatbot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FastAPI  :8000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LangChain + Groq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LLaMA 3.3 70B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466344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6480" y="466344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66960" y="466344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0" y="3749039"/>
            <a:ext cx="3017520" cy="4572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4187"/>
                </a:solidFill>
              </a:defRPr>
            </a:pPr>
            <a:r>
              <a:t>PostgreSQL — pharma_db  :5432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420624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LAN Deployment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11612880" cy="576072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90D9"/>
                </a:solidFill>
              </a:defRPr>
            </a:pPr>
            <a:r>
              <a:t>Pharmacy LAN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Backend Server (Windows PC)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Node.js Express Gateway  :4000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PostgreSQL Database  :5432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AI Dashboard (Flask)  :5000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OCR Service (FastAPI)  :5001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AI Chatbot (FastAPI)  :8000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• Serial Port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Staff Workstation / Tablet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APMS Flutter App (Desktop Mode)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Dashboard · Inventory · Rx · Robot · AI ·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83464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Staff Mobile Device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APMS Flutter App (Mobile Mode)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11480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Patient Smartphones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Roshetety App (Android / iOS)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4754880" cy="16459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Robotic Arm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USB Serial Connection (RS-232)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JSON Pick Sequences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Bidirectional ACK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2880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280"/>
                </a:solidFill>
              </a:defRPr>
            </a:pPr>
            <a:r>
              <a:t>LAN TCP/IP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24612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280"/>
                </a:solidFill>
              </a:defRPr>
            </a:pPr>
            <a:r>
              <a:t>LAN TCP/IP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572000"/>
            <a:ext cx="82296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280"/>
                </a:solidFill>
              </a:defRPr>
            </a:pPr>
            <a:r>
              <a:t>Wi-Fi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977639"/>
            <a:ext cx="731520" cy="228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D97706"/>
                </a:solidFill>
              </a:defRPr>
            </a:pPr>
            <a:r>
              <a:t>USB Serial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1965960"/>
            <a:ext cx="594360" cy="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303520" y="1965960"/>
            <a:ext cx="594360" cy="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3291840"/>
            <a:ext cx="594360" cy="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4663440"/>
            <a:ext cx="594360" cy="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3886200"/>
            <a:ext cx="0" cy="22860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Prescription Order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91440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Patient Submits Prescription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OCR Scan: Image to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73736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Manual Entry: Type Medicines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60604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Stock Availability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Medicine Linking (Rx → Inventory)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34340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Checkout &amp; Stock Deduction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21208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Robot Dispatch (Pick Sequence)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98932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Robot Dispenses Medicines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98932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Manual Dispense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9893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Status → COMPLETE / Patient Notified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OCR or Manual?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70916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374F51"/>
                </a:solidFill>
              </a:defRPr>
            </a:pPr>
            <a:r>
              <a:t>Robot Available?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417320"/>
            <a:ext cx="0" cy="457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1874519"/>
            <a:ext cx="0" cy="713233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89320" y="3108960"/>
            <a:ext cx="0" cy="347472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89320" y="3977639"/>
            <a:ext cx="0" cy="347473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89320" y="4846320"/>
            <a:ext cx="0" cy="347472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89320" y="4709160"/>
            <a:ext cx="0" cy="484632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840480" y="1737360"/>
            <a:ext cx="21488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1737360"/>
            <a:ext cx="141732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40480" y="1737360"/>
            <a:ext cx="2148840" cy="850392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989320" y="1737360"/>
            <a:ext cx="1417320" cy="850392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40480" y="5715000"/>
            <a:ext cx="21488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89320" y="5715000"/>
            <a:ext cx="141732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40480" y="5989320"/>
            <a:ext cx="21488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989320" y="5989320"/>
            <a:ext cx="141732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89320" y="5715000"/>
            <a:ext cx="0" cy="2743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8912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4187"/>
                </a:solidFill>
              </a:defRPr>
            </a:pPr>
            <a:r>
              <a:t>⇩  Handover to Patient  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AI &amp; Machine Learning Model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914400"/>
            <a:ext cx="4846320" cy="5943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74F51"/>
                </a:solidFill>
              </a:defRPr>
            </a:pPr>
            <a:r>
              <a:t>Historical Data: Monthly Excel Files (1.xlsx - 12.xlsx)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150876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1828800"/>
            <a:ext cx="39319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74F51"/>
                </a:solidFill>
              </a:defRPr>
            </a:pPr>
            <a:r>
              <a:t>Data Preprocessing &amp; Feature Engineering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286000"/>
            <a:ext cx="0" cy="2743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2560320"/>
            <a:ext cx="338328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74F51"/>
                </a:solidFill>
              </a:defRPr>
            </a:pPr>
            <a:r>
              <a:t>Train / Test Split (80/20)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926080"/>
            <a:ext cx="0" cy="914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01752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XGBoost Regressor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Demand Forecast</a:t>
            </a:r>
            <a:br/>
            <a:r>
              <a:t>Next Month Packs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01752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Keras Neural Network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Expiry Risk</a:t>
            </a:r>
            <a:br/>
            <a:r>
              <a:t>Safe / Monitor / 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Keras Autoencoder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Anomaly Detection</a:t>
            </a:r>
            <a:br/>
            <a:r>
              <a:t>Fraud / Data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01752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Q-Learning (RL)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4187"/>
                </a:solidFill>
              </a:defRPr>
            </a:pPr>
            <a:r>
              <a:t>Smart Reorder</a:t>
            </a:r>
            <a:br/>
            <a:r>
              <a:t>Optimal Quantity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3035808"/>
            <a:ext cx="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3035808"/>
            <a:ext cx="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06640" y="3035808"/>
            <a:ext cx="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3035808"/>
            <a:ext cx="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37360" y="425196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425196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06640" y="425196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41280" y="4251960"/>
            <a:ext cx="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457200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</a:defRPr>
            </a:pPr>
            <a:r>
              <a:t>demand_xgb.json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57200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</a:defRPr>
            </a:pPr>
            <a:r>
              <a:t>expiry_nn.keras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57200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</a:defRPr>
            </a:pPr>
            <a:r>
              <a:t>anomaly_ae.keras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57200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</a:defRPr>
            </a:pPr>
            <a:r>
              <a:t>q_table.joblib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521208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Model Evaluation: R² · Accuracy · MSE Threshold · Cumulative Reward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Model Performance:  XGBoost R² ≈ 0.85  |  Expiry NN Accuracy ≈ 0.92  |  Autoencoder MSE ≈ 0.01  |  Q-Learning Converged ~80K episodes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OCR Prescription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Capture</a:t>
            </a:r>
            <a:br/>
            <a:r>
              <a:t>Image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Camera or 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6459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Preprocess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Resize &amp; Enhance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6459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Pass 1: OCR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Ollama glm-ocr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6459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Pass 2: 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Fuzzy Medicine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6459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Validated</a:t>
            </a:r>
            <a:br/>
            <a:r>
              <a:t>List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Medicine Names + Score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5603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25603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25603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2560320"/>
            <a:ext cx="3657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3657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280"/>
                </a:solidFill>
              </a:defRPr>
            </a:pPr>
            <a:r>
              <a:t>Medicine DB (1000+ entries)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955279" y="3474720"/>
            <a:ext cx="0" cy="1828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35440" y="3657600"/>
            <a:ext cx="1828800" cy="3200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DC2626"/>
                </a:solidFill>
              </a:defRPr>
            </a:pPr>
            <a:r>
              <a:t>Low Confidence: Manual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Two-Pass Approach:  General OCR → Medicine DB Validation → Confidence Scoring → Manual Review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User Journey — Prescription to Dispensing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Patient</a:t>
            </a:r>
            <a:br/>
            <a:r>
              <a:t>(Roshetety)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8872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004187"/>
          </a:solidFill>
          <a:ln w="190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API Gateway</a:t>
            </a:r>
            <a:br/>
            <a:r>
              <a:t>:4000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OCR Service</a:t>
            </a:r>
            <a:br/>
            <a:r>
              <a:t>:5001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Database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Staff</a:t>
            </a:r>
            <a:br/>
            <a:r>
              <a:t>(APMS)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515600" y="9144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Robot</a:t>
            </a:r>
            <a:br/>
            <a:r>
              <a:t>Arm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247120" y="1463040"/>
            <a:ext cx="0" cy="4480560"/>
          </a:xfrm>
          <a:prstGeom prst="line">
            <a:avLst/>
          </a:prstGeom>
          <a:ln w="6350">
            <a:solidFill>
              <a:srgbClr val="9CA3A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1645920"/>
            <a:ext cx="2103120" cy="0"/>
          </a:xfrm>
          <a:prstGeom prst="line">
            <a:avLst/>
          </a:prstGeom>
          <a:ln w="1524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25880" y="14447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4A90D9"/>
                </a:solidFill>
              </a:defRPr>
            </a:pPr>
            <a:r>
              <a:t>Submit Prescription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0" y="2011680"/>
            <a:ext cx="2011680" cy="0"/>
          </a:xfrm>
          <a:prstGeom prst="line">
            <a:avLst/>
          </a:prstGeom>
          <a:ln w="1524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0" y="18105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04187"/>
                </a:solidFill>
              </a:defRPr>
            </a:pPr>
            <a:r>
              <a:t>POST /api/ai/ocr-prescription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291840" y="2377440"/>
            <a:ext cx="2011680" cy="0"/>
          </a:xfrm>
          <a:prstGeom prst="line">
            <a:avLst/>
          </a:prstGeom>
          <a:ln w="1524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3280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7C3AED"/>
                </a:solidFill>
              </a:defRPr>
            </a:pPr>
            <a:r>
              <a:t>Extracted Medicines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2743200"/>
            <a:ext cx="4023360" cy="0"/>
          </a:xfrm>
          <a:prstGeom prst="line">
            <a:avLst/>
          </a:prstGeom>
          <a:ln w="1524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2542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04187"/>
                </a:solidFill>
              </a:defRPr>
            </a:pPr>
            <a:r>
              <a:t>INSERT prescription (PENDING)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188720" y="3108960"/>
            <a:ext cx="2103120" cy="0"/>
          </a:xfrm>
          <a:prstGeom prst="line">
            <a:avLst/>
          </a:prstGeom>
          <a:ln w="1524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25880" y="29077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4A90D9"/>
                </a:solidFill>
              </a:defRPr>
            </a:pPr>
            <a:r>
              <a:t>Order Created: roshetta_code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91840" y="3474720"/>
            <a:ext cx="6126480" cy="0"/>
          </a:xfrm>
          <a:prstGeom prst="line">
            <a:avLst/>
          </a:prstGeom>
          <a:ln w="1524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40680" y="32735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04187"/>
                </a:solidFill>
              </a:defRPr>
            </a:pPr>
            <a:r>
              <a:t>WebSocket: New Rx Notification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291840" y="3840480"/>
            <a:ext cx="6126480" cy="0"/>
          </a:xfrm>
          <a:prstGeom prst="line">
            <a:avLst/>
          </a:prstGeom>
          <a:ln w="1524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40680" y="36393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D9488"/>
                </a:solidFill>
              </a:defRPr>
            </a:pPr>
            <a:r>
              <a:t>PATCH /link + POST /robot/dispatch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91840" y="4206240"/>
            <a:ext cx="7955280" cy="0"/>
          </a:xfrm>
          <a:prstGeom prst="line">
            <a:avLst/>
          </a:prstGeom>
          <a:ln w="1524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55080" y="40050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04187"/>
                </a:solidFill>
              </a:defRPr>
            </a:pPr>
            <a:r>
              <a:t>Serial: Pick Sequence (JSON)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291840" y="4572000"/>
            <a:ext cx="7955280" cy="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55080" y="43708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D97706"/>
                </a:solidFill>
              </a:defRPr>
            </a:pPr>
            <a:r>
              <a:t>Serial ACK: Completed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91840" y="4937760"/>
            <a:ext cx="4023360" cy="0"/>
          </a:xfrm>
          <a:prstGeom prst="line">
            <a:avLst/>
          </a:prstGeom>
          <a:ln w="1524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89120" y="4736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004187"/>
                </a:solidFill>
              </a:defRPr>
            </a:pPr>
            <a:r>
              <a:t>UPDATE status =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Database Schema — Entity Relationship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50292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391160" y="50546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492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user_id PK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138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full_name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784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email 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430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password_hash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076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50292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3317240" y="50546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3492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company_id 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5138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name 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784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created_at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0292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6243320" y="50546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medicines_inventory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3492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medicine_id 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5138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barcode 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6784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trade_name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8430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active_substance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60076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company_id 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617220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quantity_on_hand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633679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expiration_date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650138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is_archived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0292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9169400" y="50546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prescriptions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3492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prescription_id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5138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roshetta_code 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6784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patient_name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8430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60076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created_at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292608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391160" y="295148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invoices_fawateer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invoice_id 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41071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fatoora_number UK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7530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company_id 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3989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total_amount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9044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net_payable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0690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payment_status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3367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ocr_raw_json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3317240" y="295148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invoice_items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item_id 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41071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invoice_id FK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357530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medicine_id 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373989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quantity_received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39044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unit_cost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0690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total_line_cost GEN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292608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51" name="Rounded Rectangle 50"/>
          <p:cNvSpPr/>
          <p:nvPr/>
        </p:nvSpPr>
        <p:spPr>
          <a:xfrm>
            <a:off x="6243320" y="295148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prescription_items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pitem_id 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41071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prescription_id FK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57530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medicine_id 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73989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quantity_prescribed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9044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pay_rate_at_sale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0690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line_profit GEN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292608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59" name="Rounded Rectangle 58"/>
          <p:cNvSpPr/>
          <p:nvPr/>
        </p:nvSpPr>
        <p:spPr>
          <a:xfrm>
            <a:off x="9169400" y="295148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robot_jobs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job_id PK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341071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prescription_id FK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357530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373989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pick_sequence JSONB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9044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ack_log JSONB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9144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66" name="Rounded Rectangle 65"/>
          <p:cNvSpPr/>
          <p:nvPr/>
        </p:nvSpPr>
        <p:spPr>
          <a:xfrm>
            <a:off x="391160" y="9398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activity_logs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12344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log_id 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13990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event_type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15636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summary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17282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user_id FK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18928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metadata JSONB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914400"/>
            <a:ext cx="2560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374F51"/>
                </a:solidFill>
              </a:defRPr>
            </a:pPr>
          </a:p>
        </p:txBody>
      </p:sp>
      <p:sp>
        <p:nvSpPr>
          <p:cNvPr id="73" name="Rounded Rectangle 72"/>
          <p:cNvSpPr/>
          <p:nvPr/>
        </p:nvSpPr>
        <p:spPr>
          <a:xfrm>
            <a:off x="9169400" y="939800"/>
            <a:ext cx="2509520" cy="27432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order_communications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12344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4187"/>
                </a:solidFill>
              </a:defRPr>
            </a:pPr>
            <a:r>
              <a:t>message_id 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139903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374F51"/>
                </a:solidFill>
              </a:defRPr>
            </a:pPr>
            <a:r>
              <a:t>prescription_id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15636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sender_type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0" y="17282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message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189280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74F51"/>
                </a:solidFill>
              </a:defRPr>
            </a:pPr>
            <a:r>
              <a:t>created_at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0" y="5029200"/>
            <a:ext cx="1645920" cy="77724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1645919" y="4480560"/>
            <a:ext cx="2926081" cy="54864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645919" y="3703320"/>
            <a:ext cx="2926081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572000" y="3703320"/>
            <a:ext cx="2926079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78240" y="3703320"/>
            <a:ext cx="1645920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498079" y="4023360"/>
            <a:ext cx="2926081" cy="210312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645919" y="3703320"/>
            <a:ext cx="8778241" cy="210312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424160" y="2011680"/>
            <a:ext cx="0" cy="45720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Data Flow Diagram (Level 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Patient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(Roshetety App)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347472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Pharmacy Staff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(APMS Dashboard)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548640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004187"/>
          </a:solidFill>
          <a:ln w="190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Pharmacy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(APMS Dashboard)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2004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74F51"/>
                </a:solidFill>
              </a:defRPr>
            </a:pPr>
            <a:r>
              <a:t>API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74F51"/>
                </a:solidFill>
              </a:defRPr>
            </a:pPr>
            <a:r>
              <a:t>Node.js / Express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74F51"/>
                </a:solidFill>
              </a:defRPr>
            </a:pPr>
            <a:r>
              <a:t>Port 4000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74F51"/>
                </a:solidFill>
              </a:defRPr>
            </a:pPr>
            <a:r>
              <a:t>JWT · WebSocket · Proxy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2004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74F51"/>
                </a:solidFill>
              </a:defRPr>
            </a:pPr>
            <a:r>
              <a:t>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74F51"/>
                </a:solidFill>
              </a:defRPr>
            </a:pPr>
            <a:r>
              <a:t>pharma_db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0292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74F51"/>
                </a:solidFill>
              </a:defRPr>
            </a:pPr>
            <a:r>
              <a:t>ML Models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74F51"/>
                </a:solidFill>
              </a:defRPr>
            </a:pPr>
            <a:r>
              <a:t>(Trained Artifacts)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7315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74F51"/>
                </a:solidFill>
              </a:defRPr>
            </a:pPr>
            <a:r>
              <a:t>AI Dashboard</a:t>
            </a:r>
            <a:br/>
            <a:r>
              <a:t>:5000 (Flask)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4592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74F51"/>
                </a:solidFill>
              </a:defRPr>
            </a:pPr>
            <a:r>
              <a:t>OCR</a:t>
            </a:r>
            <a:br/>
            <a:r>
              <a:t>:5001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65176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74F51"/>
                </a:solidFill>
              </a:defRPr>
            </a:pPr>
            <a:r>
              <a:t>Chatbot</a:t>
            </a:r>
            <a:br/>
            <a:r>
              <a:t>:8000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1783080"/>
            <a:ext cx="868680" cy="2103120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3886200"/>
            <a:ext cx="868680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286000" y="3886200"/>
            <a:ext cx="868680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86000" y="3886200"/>
            <a:ext cx="868680" cy="2011680"/>
          </a:xfrm>
          <a:prstGeom prst="line">
            <a:avLst/>
          </a:prstGeom>
          <a:ln w="19050">
            <a:solidFill>
              <a:srgbClr val="00418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3429000"/>
            <a:ext cx="868679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601200" y="3200400"/>
            <a:ext cx="0" cy="22860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3200400"/>
            <a:ext cx="0" cy="22860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114800"/>
            <a:ext cx="2743200" cy="91440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43600" y="1097280"/>
            <a:ext cx="1783079" cy="7315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00800" y="2011680"/>
            <a:ext cx="3794760" cy="2743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400800" y="3017520"/>
            <a:ext cx="3794760" cy="1828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Use Case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731520"/>
            <a:ext cx="6858000" cy="5760720"/>
          </a:xfrm>
          <a:prstGeom prst="roundRect">
            <a:avLst>
              <a:gd name="adj" fmla="val 5000"/>
            </a:avLst>
          </a:prstGeom>
          <a:solidFill>
            <a:srgbClr val="FBFA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90D9"/>
                </a:solidFill>
              </a:defRPr>
            </a:pPr>
            <a:r>
              <a:t>APMS &amp; Roshetety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187"/>
                </a:solidFill>
              </a:defRPr>
            </a:pPr>
            <a:r>
              <a:t>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47472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Staff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663440"/>
            <a:ext cx="1645920" cy="731520"/>
          </a:xfrm>
          <a:prstGeom prst="roundRect">
            <a:avLst>
              <a:gd name="adj" fmla="val 5000"/>
            </a:avLst>
          </a:prstGeom>
          <a:solidFill>
            <a:srgbClr val="004187"/>
          </a:solidFill>
          <a:ln w="190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9728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Submit Prescription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Track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OCR Scan Prescription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Manual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37744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Manage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37744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Stock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01752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Process Invoices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01752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Link Rx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65760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Checkout &amp; Dispense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65760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OTC Walk-in Sale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29768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Control Robot Arm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9768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Chat with Staff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29768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View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93776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AI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557784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FDF4E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4187"/>
                </a:solidFill>
              </a:defRPr>
            </a:pPr>
            <a:r>
              <a:t>AI Chatbot Queries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2743200"/>
            <a:ext cx="1280160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931920"/>
            <a:ext cx="1280160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20240" y="5120640"/>
            <a:ext cx="1280160" cy="0"/>
          </a:xfrm>
          <a:prstGeom prst="line">
            <a:avLst/>
          </a:prstGeom>
          <a:ln w="63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20240" y="3840480"/>
            <a:ext cx="5577839" cy="64008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20240" y="5029200"/>
            <a:ext cx="5577839" cy="4572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20240" y="5029200"/>
            <a:ext cx="5577839" cy="6858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Technology Stack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Frontend (Staff)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Flutter 3.11+ (Dart)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Material 3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Provider State Mgmt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fl_chart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99232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mobile_scanner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web_socket_channel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47672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Frontend (Patient)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7672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Flutter 3.11+ (Dart)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7672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Material 3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google_mlkit_ocr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7672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socket_io_client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7672" y="2999232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image_picker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47672" y="338328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flutter_secure_storage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1024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004187"/>
          </a:solidFill>
          <a:ln w="190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21024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Node.js (Express 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21024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TypeScript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1024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pg (PostgreSQL)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1024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JWT + bcryptjs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1024" y="2999232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zod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338328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multer (uploads)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94376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AI / 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4376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XGBoost Regressor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94376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Keras (TF) 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94376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Keras Autoencoder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4376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Q-Learning (RL)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94376" y="2999232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Scikit-learn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4376" y="338328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LangChain + Groq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OCR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7728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FastAPI (Python)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67728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Ollama glm-ocr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7728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Fuzzy Matching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Pillow (Image Proc)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PostgreSQL 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pgcrypto Extension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JSONB Fields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Generated Columns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14432" y="914400"/>
            <a:ext cx="1600200" cy="457200"/>
          </a:xfrm>
          <a:prstGeom prst="roundRect">
            <a:avLst>
              <a:gd name="adj" fmla="val 5000"/>
            </a:avLst>
          </a:prstGeom>
          <a:solidFill>
            <a:srgbClr val="374F51"/>
          </a:solidFill>
          <a:ln w="19050">
            <a:solidFill>
              <a:srgbClr val="374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14432" y="1463040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Windows Server/LAN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14432" y="1847088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Serial Port (RS-232)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14432" y="2231136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WebSocket (ws)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14432" y="2615184"/>
            <a:ext cx="1600200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374F51"/>
                </a:solidFill>
              </a:defRPr>
            </a:pPr>
            <a:r>
              <a:t>CORS Middleware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5943600"/>
            <a:ext cx="11612880" cy="64008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Languages: TypeScript (backend) · Dart (frontend) · Python (AI/ML) · SQL (database)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Component Interaction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Roshetety</a:t>
            </a:r>
            <a:br/>
            <a:r>
              <a:t>Patient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APMS Staff</a:t>
            </a:r>
            <a:br/>
            <a:r>
              <a:t>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API Gateway</a:t>
            </a:r>
            <a:br/>
            <a:r>
              <a:t>Express :4000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WebSocket</a:t>
            </a:r>
            <a:br/>
            <a:r>
              <a:t>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PostgreSQL</a:t>
            </a:r>
            <a:br/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AI Dashboard</a:t>
            </a:r>
            <a:br/>
            <a:r>
              <a:t>:5000 (Flask)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OCR Service</a:t>
            </a:r>
            <a:br/>
            <a:r>
              <a:t>:5001 (FastAPI)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AI Chatbot</a:t>
            </a:r>
            <a:br/>
            <a:r>
              <a:t>:8000 (FastAPI)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Robotic Arm</a:t>
            </a:r>
            <a:br/>
            <a:r>
              <a:t>(Serial Port)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663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Google Sheets</a:t>
            </a:r>
            <a:br/>
            <a:r>
              <a:t>Bridge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663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Groq API</a:t>
            </a:r>
            <a:br/>
            <a:r>
              <a:t>LLaMA 3.3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663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Ollama</a:t>
            </a:r>
            <a:br/>
            <a:r>
              <a:t>(glm-ocr)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1828800"/>
            <a:ext cx="685800" cy="0"/>
          </a:xfrm>
          <a:prstGeom prst="line">
            <a:avLst/>
          </a:prstGeom>
          <a:ln w="1524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07040" y="1828800"/>
            <a:ext cx="1005840" cy="0"/>
          </a:xfrm>
          <a:prstGeom prst="line">
            <a:avLst/>
          </a:prstGeom>
          <a:ln w="1524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1828800"/>
            <a:ext cx="411480" cy="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486400" y="1828800"/>
            <a:ext cx="411480" cy="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68880" y="2743200"/>
            <a:ext cx="0" cy="228600"/>
          </a:xfrm>
          <a:prstGeom prst="line">
            <a:avLst/>
          </a:prstGeom>
          <a:ln w="1524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2743200"/>
            <a:ext cx="0" cy="228600"/>
          </a:xfrm>
          <a:prstGeom prst="line">
            <a:avLst/>
          </a:prstGeom>
          <a:ln w="1524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743200"/>
            <a:ext cx="0" cy="22860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98480" y="2743200"/>
            <a:ext cx="0" cy="228600"/>
          </a:xfrm>
          <a:prstGeom prst="line">
            <a:avLst/>
          </a:prstGeom>
          <a:ln w="1524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68880" y="4114800"/>
            <a:ext cx="0" cy="50292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12080" y="4114800"/>
            <a:ext cx="0" cy="502920"/>
          </a:xfrm>
          <a:prstGeom prst="line">
            <a:avLst/>
          </a:prstGeom>
          <a:ln w="1524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98480" y="4114800"/>
            <a:ext cx="0" cy="502920"/>
          </a:xfrm>
          <a:prstGeom prst="line">
            <a:avLst/>
          </a:prstGeom>
          <a:ln w="1524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4114800"/>
            <a:ext cx="0" cy="502920"/>
          </a:xfrm>
          <a:prstGeom prst="line">
            <a:avLst/>
          </a:prstGeom>
          <a:ln w="1524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4187"/>
                </a:solidFill>
              </a:defRPr>
            </a:pPr>
            <a:r>
              <a:t>ML Training &amp; Evaluation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Monthly Excel</a:t>
            </a:r>
            <a:br/>
            <a:r>
              <a:t>Data (1-12)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Data Pre-</a:t>
            </a:r>
            <a:br/>
            <a:r>
              <a:t>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Train/Test</a:t>
            </a:r>
            <a:br/>
            <a:r>
              <a:t>Split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82880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389120" y="1828800"/>
            <a:ext cx="41148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228600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2468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</a:defRPr>
            </a:pPr>
            <a:r>
              <a:t>  ───  Parallel Training of All Models  ───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XGBoost</a:t>
            </a:r>
            <a:br/>
            <a:r>
              <a:t>Demand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697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Keras NN</a:t>
            </a:r>
            <a:br/>
            <a:r>
              <a:t>Expiry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697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Autoencoder</a:t>
            </a:r>
            <a:br/>
            <a:r>
              <a:t>Anomaly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974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Q-Learning</a:t>
            </a:r>
            <a:br/>
            <a:r>
              <a:t>Smart Reorder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00200" y="379476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379476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40" y="379476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81160" y="3794760"/>
            <a:ext cx="0" cy="1371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93192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4187"/>
                </a:solidFill>
              </a:defRPr>
            </a:pPr>
            <a:r>
              <a:t>Save: demand_xgb.json  ·  expiry_nn.keras  ·  anomaly_ae.keras  ·  q_table.joblib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4389120"/>
            <a:ext cx="0" cy="2743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86000" y="4663440"/>
            <a:ext cx="64008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187"/>
                </a:solidFill>
              </a:defRPr>
            </a:pPr>
            <a:r>
              <a:t>Model Evaluation: R² · Accuracy · MSE · Cumulative Reward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5120640"/>
            <a:ext cx="0" cy="22860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71600" y="5349240"/>
            <a:ext cx="8229600" cy="54864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3A5F"/>
                </a:solidFill>
              </a:defRPr>
            </a:pPr>
            <a:r>
              <a:t>Final Metrics:  XGBoost R² ≈ 0.85  |  Expiry NN Acc ≈ 0.92  |  Autoencoder MSE ≈ 0.01  |  Q-Learning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