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200400"/>
            <a:ext cx="12191695" cy="38100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APMS &amp; Roshetety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EE"/>
                </a:solidFill>
                <a:latin typeface="Calibri"/>
              </a:defRPr>
            </a:pPr>
            <a:r>
              <a:t>An Integrated Smart Pharmacy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AACC"/>
                </a:solidFill>
                <a:latin typeface="Calibri"/>
              </a:defRPr>
            </a:pPr>
            <a:r>
              <a:t>Advanced Pharmacy Management System  ·  Roshetety Patient App  ·  AI &amp; Robotic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Graduation Project  ·  Faculty of Computer Science  ·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004187"/>
          </a:solidFill>
          <a:ln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187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What's broken in today's pharmacies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What we set out to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Two apps, one integrated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Patient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Roshetety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Staff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APMS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Intelligence &amp;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AI features + robotic arm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0D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187"/>
                </a:solidFill>
                <a:latin typeface="Calibri"/>
              </a:defRPr>
            </a:pPr>
            <a:r>
              <a:t>Impact &amp;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18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148840" cy="256032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📄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Paper Prescriptions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Hand-written, easy to lose,</a:t>
            </a:r>
            <a:br/>
            <a:r>
              <a:t>hard to read. No digital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79" y="1188720"/>
            <a:ext cx="2148840" cy="2560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📦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Manual Inventory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Stockouts or overstocks.</a:t>
            </a:r>
            <a:br/>
            <a:r>
              <a:t>Expired medicines = wasted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2148840" cy="256032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📊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No Analytics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Decisions based on guesswork.</a:t>
            </a:r>
            <a:br/>
            <a:r>
              <a:t>No forecasts. No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19" y="1188720"/>
            <a:ext cx="2148840" cy="256032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🤝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Invisible Patients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No order tracking.</a:t>
            </a:r>
            <a:br/>
            <a:r>
              <a:t>No communication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188720"/>
            <a:ext cx="2148840" cy="25603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🤖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Disconnected Tech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Robotic arm exists but</a:t>
            </a:r>
            <a:br/>
            <a:r>
              <a:t>no software to run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11430000" cy="54864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DC2626"/>
                </a:solidFill>
                <a:latin typeface="Calibri"/>
              </a:defRPr>
            </a:pPr>
            <a:r>
              <a:t>Traditional pharmacies lack an integrated system connecting patients, staff, AI,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187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374F51"/>
                </a:solidFill>
                <a:latin typeface="Calibri"/>
              </a:defRPr>
            </a:pPr>
            <a:r>
              <a:t>"A pharmacy where patients submit prescriptions from home, AI predicts demand before stock runs low,</a:t>
            </a:r>
            <a:br/>
            <a:r>
              <a:t>   staff manage everything from one dashboard, and a robotic arm dispenses — automatically."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4A90D9"/>
                </a:solidFill>
                <a:latin typeface="Calibri"/>
              </a:defRPr>
            </a:pPr>
            <a:r>
              <a:t>👤  For Patients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Snap a photo. Track live.</a:t>
            </a:r>
            <a:br/>
            <a:r>
              <a:t>No waiting. Easy.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0D9488"/>
                </a:solidFill>
                <a:latin typeface="Calibri"/>
              </a:defRPr>
            </a:pPr>
            <a:r>
              <a:t>🧑‍💼  For Staff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One dashboard. Full control.</a:t>
            </a:r>
            <a:br/>
            <a:r>
              <a:t>Inventory, Rx, robot.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74320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7C3AED"/>
                </a:solidFill>
                <a:latin typeface="Calibri"/>
              </a:defRPr>
            </a:pPr>
            <a:r>
              <a:t>🧠  For Managers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AI forecasts. Expiry alerts.</a:t>
            </a:r>
            <a:br/>
            <a:r>
              <a:t>Smart reorder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Our Solution — Two Apps, One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4A90D9"/>
                </a:solidFill>
                <a:latin typeface="Calibri"/>
              </a:defRPr>
            </a:pPr>
            <a:r>
              <a:t>Roshetety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📱 Patient Mobile App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74F51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Submit prescriptions by photo or typing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Check medicine availability instantly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Track order status in real time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Chat with pharmacy staff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Available in Arabic &amp;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004187"/>
                </a:solidFill>
                <a:latin typeface="Calibri"/>
              </a:defRPr>
            </a:pPr>
            <a:r>
              <a:t>APMS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🖥 Staff Dashboard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374F51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Live KPIs, revenue charts, stock alerts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Inventory &amp; invoice management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Prescription workflow with item linking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AI Command Center &amp; 365-day reports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• Robotic arm control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004187"/>
                </a:solidFill>
                <a:latin typeface="Calibri"/>
              </a:defRPr>
            </a:pPr>
            <a:r>
              <a:t>Powered By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Node.js / Express Gateway  ·  PostgreSQL Database  ·  Python AI Services  ·  Robotic Arm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486400"/>
            <a:ext cx="4846320" cy="457200"/>
          </a:xfrm>
          <a:prstGeom prst="roundRect">
            <a:avLst>
              <a:gd name="adj" fmla="val 4000"/>
            </a:avLst>
          </a:prstGeom>
          <a:solidFill>
            <a:srgbClr val="004187"/>
          </a:solidFill>
          <a:ln w="63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🔒  100% On-Premise · No Cloud · Full Data Sovereignty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How It Works — From Prescription to Pickup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371600"/>
            <a:ext cx="502920" cy="50292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57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4A90D9"/>
                </a:solidFill>
                <a:latin typeface="Calibri"/>
              </a:defRPr>
            </a:pPr>
            <a:r>
              <a:t>Submit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Patient snaps a photo</a:t>
            </a:r>
            <a:br/>
            <a:r>
              <a:t>or types medicines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743200"/>
            <a:ext cx="228600" cy="0"/>
          </a:xfrm>
          <a:prstGeom prst="line">
            <a:avLst/>
          </a:prstGeom>
          <a:ln w="25400">
            <a:solidFill>
              <a:srgbClr val="4A90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057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0D9488"/>
                </a:solidFill>
                <a:latin typeface="Calibri"/>
              </a:defRPr>
            </a:pPr>
            <a:r>
              <a:t>Check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System validates</a:t>
            </a:r>
            <a:br/>
            <a:r>
              <a:t>against inventory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2743200"/>
            <a:ext cx="22860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06440" y="137160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57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Process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Staff links items</a:t>
            </a:r>
            <a:br/>
            <a:r>
              <a:t>and confirms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2743200"/>
            <a:ext cx="228600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83880" y="13716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057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7C3AED"/>
                </a:solidFill>
                <a:latin typeface="Calibri"/>
              </a:defRPr>
            </a:pPr>
            <a:r>
              <a:t>Dispense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Robot picks &amp;</a:t>
            </a:r>
            <a:br/>
            <a:r>
              <a:t>dispenses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0" y="2743200"/>
            <a:ext cx="22860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561320" y="13716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57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Collect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Patient notified</a:t>
            </a:r>
            <a:br/>
            <a:r>
              <a:t>→ picks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31920"/>
            <a:ext cx="11612880" cy="5029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004187"/>
                </a:solidFill>
                <a:latin typeface="Calibri"/>
              </a:defRPr>
            </a:pPr>
            <a:r>
              <a:t>The entire cycle — from submission to pickup — happens in minutes, not hours.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75488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Who Uses What?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A90D9"/>
                </a:solidFill>
                <a:latin typeface="Calibri"/>
              </a:defRPr>
            </a:pPr>
            <a:r>
              <a:t>Patient  →  Roshetety App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0D9488"/>
                </a:solidFill>
                <a:latin typeface="Calibri"/>
              </a:defRPr>
            </a:pPr>
            <a:r>
              <a:t>Staff    →  APMS Dashboard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7C3AED"/>
                </a:solidFill>
                <a:latin typeface="Calibri"/>
              </a:defRPr>
            </a:pPr>
            <a:r>
              <a:t>Manager  →  AI Command Center + Reports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97706"/>
                </a:solidFill>
                <a:latin typeface="Calibri"/>
              </a:defRPr>
            </a:pPr>
            <a:r>
              <a:t>Robot    →  Serial Control via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6692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Key Metric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⏱  Average order-to-dispense time: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Before: 15–30 min manual  →  Now: under 3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Roshetety — The 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OCR Prescription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Take a photo → AI extracts medicine names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Manual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Type medicines directly if you prefer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Stock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See availability before submitting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36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Live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Real-time status via WebSocket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22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In-App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Talk to pharmacy staff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74F51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07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187"/>
                </a:solidFill>
                <a:latin typeface="Calibri"/>
              </a:defRPr>
            </a:pPr>
            <a:r>
              <a:t>Arabic /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Full bilingual with RTL layout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097280"/>
            <a:ext cx="48463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spcAft>
                <a:spcPts val="200"/>
              </a:spcAft>
              <a:defRPr sz="2600" b="1">
                <a:solidFill>
                  <a:srgbClr val="004187"/>
                </a:solidFill>
                <a:latin typeface="Calibri"/>
              </a:defRPr>
            </a:pPr>
            <a:r>
              <a:t>Roshetety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4800" b="0">
                <a:solidFill>
                  <a:srgbClr val="374F51"/>
                </a:solidFill>
                <a:latin typeface="Calibri"/>
              </a:defRPr>
            </a:pPr>
            <a:r>
              <a:t>📱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4A90D9"/>
                </a:solidFill>
                <a:latin typeface="Calibri"/>
              </a:defRPr>
            </a:pPr>
            <a:r>
              <a:t>Patient Mobile App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374F51"/>
                </a:solidFill>
                <a:latin typeface="Calibri"/>
              </a:defRPr>
            </a:pPr>
            <a:r>
              <a:t>Android &amp; iOS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Built with Flutter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004187"/>
          </a:solidFill>
          <a:ln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APMS — The Staff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📊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Dashboard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Live KPIs, revenue</a:t>
            </a:r>
            <a:br/>
            <a:r>
              <a:t>charts, stock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💊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Inventory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Full CRUD, barcode scan,</a:t>
            </a:r>
            <a:br/>
            <a:r>
              <a:t>Excel import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🧾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Invoices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PDF/OCR/Excel import,</a:t>
            </a:r>
            <a:br/>
            <a:r>
              <a:t>payment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188720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📋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Prescriptions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Link items, checkout,</a:t>
            </a:r>
            <a:br/>
            <a:r>
              <a:t>OTC sales,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91839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🤖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Robot Control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Dispatch, live status,</a:t>
            </a:r>
            <a:br/>
            <a:r>
              <a:t>WebSocket ACK feed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291839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📈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Reports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365-day analytics,</a:t>
            </a:r>
            <a:br/>
            <a:r>
              <a:t>revenue &amp;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39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FDF4E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🧠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AI Command Center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Demand forecast, expiry</a:t>
            </a:r>
            <a:br/>
            <a:r>
              <a:t>risk, anomalies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291839"/>
            <a:ext cx="2697480" cy="173736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💬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004187"/>
                </a:solidFill>
                <a:latin typeface="Calibri"/>
              </a:defRPr>
            </a:pPr>
            <a:r>
              <a:t>AI Chatbot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Natural language</a:t>
            </a:r>
            <a:br/>
            <a:r>
              <a:t>DB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486400"/>
            <a:ext cx="1143000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Role-based access: Manager sees all 8 modules · Staff sees operational tabs (Dashboard, Inventory, Invoices, Prescriptions, Robot)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Intelligence &amp;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📈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Demand Forecast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XGBoost predicts monthly</a:t>
            </a:r>
            <a:br/>
            <a:r>
              <a:t>sales per medicine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0972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⚠️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Expiry Risk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NN classifies Safe / Monitor</a:t>
            </a:r>
            <a:br/>
            <a:r>
              <a:t>/ Critical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🔍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Anomaly Detection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Autoencoder flags unusual</a:t>
            </a:r>
            <a:br/>
            <a:r>
              <a:t>shift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0896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📦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Smart Reorder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Q-Learning suggests optimal</a:t>
            </a:r>
            <a:br/>
            <a:r>
              <a:t>order quantities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10896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📸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OCR Prescription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Two-pass: Ollama + fuzzy</a:t>
            </a:r>
            <a:br/>
            <a:r>
              <a:t>medicine DB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200"/>
              </a:spcAft>
              <a:defRPr sz="2400" b="0">
                <a:solidFill>
                  <a:srgbClr val="374F51"/>
                </a:solidFill>
                <a:latin typeface="Calibri"/>
              </a:defRPr>
            </a:pPr>
            <a:r>
              <a:t>🤖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AI Chatbot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374F51"/>
                </a:solidFill>
                <a:latin typeface="Calibri"/>
              </a:defRPr>
            </a:pPr>
            <a:r>
              <a:t>Ask questions in English.</a:t>
            </a:r>
            <a:br/>
            <a:r>
              <a:t>LLaMA 3.3 + 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394960"/>
            <a:ext cx="11430000" cy="7315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04187"/>
                </a:solidFill>
                <a:latin typeface="Calibri"/>
              </a:defRPr>
            </a:pPr>
            <a:r>
              <a:t>🤖  Robotic Arm: USB Serial (RS-232)  ·  JSON Pick Sequences  ·  Real-time WebSocket ACK  ·  Google Sheets Fallback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Pipeline: Patient submits → Staff links → Robot picks → WebSocket notifies → Patient collects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4187"/>
                </a:solidFill>
                <a:latin typeface="Calibri"/>
              </a:defRPr>
            </a:pPr>
            <a:r>
              <a:t>System Architecture (Simplified)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4A90D9"/>
                </a:solidFill>
                <a:latin typeface="Calibri"/>
              </a:defRPr>
            </a:pPr>
            <a:r>
              <a:t>📱  Presentation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Roshetety App (Patient)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APMS Dashboard (Staff)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Flutter · Android / iOS /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2540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⚙️  Gateway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Node.js / Express :4000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JWT Auth · WebSocket · Proxy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PostgreSQL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7C3AED"/>
                </a:solidFill>
                <a:latin typeface="Calibri"/>
              </a:defRPr>
            </a:pPr>
            <a:r>
              <a:t>🧠  Services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AI Dashboard :5000 (Flask)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OCR Service :5001 (FastAPI)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AI Chatbot :8000 (LangChain)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1920240"/>
            <a:ext cx="1371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1920240"/>
            <a:ext cx="13716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200400"/>
            <a:ext cx="11338560" cy="7315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04187"/>
                </a:solidFill>
                <a:latin typeface="Calibri"/>
              </a:defRPr>
            </a:pPr>
            <a:r>
              <a:t>🔌  Hardware: Robotic Arm (Serial)  |  External: Groq API (LLaMA 3.3) · Ollama (glm-ocr)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6B7280"/>
                </a:solidFill>
                <a:latin typeface="Calibri"/>
              </a:defRPr>
            </a:pPr>
            <a:r>
              <a:t>Communication: HTTP REST  ·  WebSocket  ·  Serial (RS-232)  ·  CSV Poll (Google Sheets)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🔒  On-Premise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All servers run on local LAN.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No internet dependency.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Patient data never leaves.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059669"/>
                </a:solidFill>
                <a:latin typeface="Calibri"/>
              </a:defRPr>
            </a:pPr>
            <a:r>
              <a:t>Full regulatory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29768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📊  Real-Time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WebSocket push for: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• Order status updates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• Robot ACK events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• Patient chat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29768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4187"/>
                </a:solidFill>
                <a:latin typeface="Calibri"/>
              </a:defRPr>
            </a:pPr>
            <a:r>
              <a:t>🔧  Modular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374F51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Independent services: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• Replace or update any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  microservice independently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74F51"/>
                </a:solidFill>
                <a:latin typeface="Calibri"/>
              </a:defRPr>
            </a:pPr>
            <a:r>
              <a:t>• Add new AI models anytime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3500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187"/>
                </a:solidFill>
                <a:latin typeface="Calibri"/>
              </a:defRPr>
            </a:pPr>
            <a:r>
              <a:t>Impact &amp;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⚡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Speed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Orders processed in</a:t>
            </a:r>
            <a:br/>
            <a:r>
              <a:t>minutes, not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📉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059669"/>
                </a:solidFill>
                <a:latin typeface="Calibri"/>
              </a:defRPr>
            </a:pPr>
            <a:r>
              <a:t>Less Waste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AI predicts expiry</a:t>
            </a:r>
            <a:br/>
            <a:r>
              <a:t>before it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8872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📈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4A90D9"/>
                </a:solidFill>
                <a:latin typeface="Calibri"/>
              </a:defRPr>
            </a:pPr>
            <a:r>
              <a:t>Smart Stock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Demand forecasts</a:t>
            </a:r>
            <a:br/>
            <a:r>
              <a:t>prevent stockouts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91839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💰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Higher Profit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Data-driven decisions</a:t>
            </a:r>
            <a:br/>
            <a:r>
              <a:t>improve margins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291839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🔒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6366F1"/>
                </a:solidFill>
                <a:latin typeface="Calibri"/>
              </a:defRPr>
            </a:pPr>
            <a:r>
              <a:t>Privacy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All data on-premise</a:t>
            </a:r>
            <a:br/>
            <a:r>
              <a:t>no cloud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91839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374F51"/>
                </a:solidFill>
                <a:latin typeface="Calibri"/>
              </a:defRPr>
            </a:pPr>
            <a:r>
              <a:t>🤖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Automation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374F51"/>
                </a:solidFill>
                <a:latin typeface="Calibri"/>
              </a:defRPr>
            </a:pPr>
            <a:r>
              <a:t>Robot handles repetitive</a:t>
            </a:r>
            <a:br/>
            <a:r>
              <a:t>dispensing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669280"/>
            <a:ext cx="11430000" cy="502920"/>
          </a:xfrm>
          <a:prstGeom prst="roundRect">
            <a:avLst>
              <a:gd name="adj" fmla="val 4000"/>
            </a:avLst>
          </a:prstGeom>
          <a:solidFill>
            <a:srgbClr val="004187"/>
          </a:solidFill>
          <a:ln w="6350">
            <a:solidFill>
              <a:srgbClr val="004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One integrated system. Three user groups. Smarter pharmacy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200400"/>
            <a:ext cx="12191695" cy="38100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CCE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APMS &amp; Roshetety  ·  Smart Pharmacy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Graduation Project  ·  Faculty of Computer Science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